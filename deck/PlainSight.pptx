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dff9e23-897c-1abf-6966-820e3c62c38e}">
          <p14:sldIdLst>
            <p14:sldId id="256"/>
          </p14:sldIdLst>
        </p14:section>
        <p14:section name="Problem" id="{8c897e56-64b7-421f-cd5a-154b06c4ffa3}">
          <p14:sldIdLst>
            <p14:sldId id="257"/>
            <p14:sldId id="258"/>
          </p14:sldIdLst>
        </p14:section>
        <p14:section name="Solution" id="{e310318f-242e-d513-5668-ea43e2b94ecb}">
          <p14:sldIdLst>
            <p14:sldId id="259"/>
            <p14:sldId id="260"/>
            <p14:sldId id="261"/>
          </p14:sldIdLst>
        </p14:section>
        <p14:section name="Evidence" id="{993ba5dc-bef5-62d8-79fb-a39659699181}">
          <p14:sldIdLst>
            <p14:sldId id="262"/>
            <p14:sldId id="263"/>
            <p14:sldId id="264"/>
          </p14:sldIdLst>
        </p14:section>
        <p14:section name="Next" id="{0addb5ac-a215-ba9e-67fe-d92a7bcdd8ad}">
          <p14:sldIdLst>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people this is for: someone who has to coordinate something sensitive on an app the state reads. Use the judge's own stories here (the Afghan evacuation, the Green Revolution). One line on what we built: type a secret, it goes out as small talk, it comes back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threat model in one breath: assume everything in plaintext is read. Encryption does not save you here, because who sends unreadable traffic is exactly what gets someone picked up. That is the bugged-hotel problem. The two cards on the right are the whole pitch: same channel, one gets flagged, one gets ignored.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not just use a codebook? Because it is self-incriminating: if the carrier is caught, the book proves what they are, decodes everything they ever sent, and burns every other person using it. A model that looks like a chat assistant is deniable, and its output reads like ordinary chatter.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MVP exactly as it was described to us, and it is met: the eval harness runs the frozen cases, every exact detail comes back, and no cover contains any of that case's flagged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'fancy' version: one system prompt that holds the whole shared code as two-way pairs. The request says MODE: MASK or MODE: UNMASK and the model converts in that direction. The rules are deliberately mechanical and reversible, so the decoder can undo exactly what the encoder did. We kept the two-prompt version as a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app now: streamlit run demo/app.py. Click Warm up model first, use the book-swap preset. Narrate left to right: what the sender typed, what an eavesdropper sees (and the keyword scan coming back clean), what the receiver gets back with the exact details ticked off. If the model misbehaves, flip on Recorded replay, which replays this exact recorded output. Backup video: demo/demo-fallback.gif.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come from python -m evaluation.run_eval. Test cases are the three frozen cases the prompts were tuned on, so 100% is expected there. The honest number is the unseen one: 92% on three new fictional messages for both codecs; the two-prompt codec leaked 'choir practice' into one cover, the single prompt did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Feasibility: everything you just saw ran on a laptop CPU with an open 7B model and no API key. The architecture has two seams, Codec and Provider; on-device, multilingual, keyed and image carriers all plug in at one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judge asked for honest acknowledgement of challenges, so here they are, all measured by our own harness. The biggest is that a language model paraphrasing exact data is lossy, which is exactly what the next stage 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is the fidelity layer: stop asking the model to remember exact data through a paraphrase; carry it deterministically under the key and let the model only write the cover. Then make everything keyed and varied so a seized model is useless. The long tail is the judge's own list of later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this goes: small per-user models that mask and unmask on the device, keyed so possessing the model is not enough, deployable to people living under censorship. Nothing in the MVP closes that door.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judge. Offer to rerun the demo with a message they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0A0F1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lstStyle>
            <a:lvl1pPr algn="l" indent="0" marL="0">
              <a:buNone/>
              <a:defRPr lang="en-US" sz="3200" b="1" dirty="0">
                <a:solidFill>
                  <a:schemeClr val="bg2"/>
                </a:solidFill>
              </a:defRPr>
            </a:lvl1pPr>
          </a:lstStyle>
          <a:p>
            <a:pPr algn="l" indent="0" marL="0">
              <a:buNone/>
            </a:pPr>
            <a:endParaRPr lang="en-US" sz="3200" dirty="0"/>
          </a:p>
        </p:txBody>
      </p:sp>
      <p:sp>
        <p:nvSpPr>
          <p:cNvPr id="3"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PlainSight  ·  SprintHack@ND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7AE"/>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0A0F1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57400"/>
            <a:ext cx="5669280" cy="118872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3" name="Text 0"/>
          <p:cNvSpPr/>
          <p:nvPr>
            <p:ph idx="101" type="body" hasCustomPrompt="1"/>
          </p:nvPr>
        </p:nvSpPr>
        <p:spPr>
          <a:xfrm>
            <a:off x="548640" y="3383280"/>
            <a:ext cx="5486400" cy="1188720"/>
          </a:xfrm>
          <a:prstGeom prst="rect">
            <a:avLst/>
          </a:prstGeom>
          <a:noFill/>
          <a:ln/>
        </p:spPr>
        <p:txBody>
          <a:bodyPr wrap="square" rtlCol="0"/>
          <a:lstStyle>
            <a:lvl1pPr algn="l" indent="0" marL="0">
              <a:buNone/>
              <a:defRPr lang="en-US" sz="2200" dirty="0">
                <a:solidFill>
                  <a:schemeClr val="bg2"/>
                </a:solidFill>
              </a:defRPr>
            </a:lvl1pPr>
          </a:lstStyle>
          <a:p>
            <a:pPr algn="l" indent="0" marL="0">
              <a:buNone/>
            </a:pPr>
            <a:endParaRPr lang="en-US" sz="2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7AE"/>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image" Target="../media/image-12-3.jpg"/><Relationship Id="rId4" Type="http://schemas.openxmlformats.org/officeDocument/2006/relationships/image" Target="../media/image-12-4.jp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DIU seal wall photo" descr="C:\Users\pulic\AppData\Local\Temp\claude\C--Users-pulic-SprintHack-ND\14b8d429-a2f3-4f03-a300-27c404025c81\scratchpad\deck\img\seal-wall.jpg">    </p:cNvPr>
          <p:cNvPicPr>
            <a:picLocks noChangeAspect="1"/>
          </p:cNvPicPr>
          <p:nvPr/>
        </p:nvPicPr>
        <p:blipFill>
          <a:blip r:embed="rId1"/>
          <a:srcRect l="0" r="0" t="0" b="0"/>
          <a:stretch/>
        </p:blipFill>
        <p:spPr>
          <a:xfrm>
            <a:off x="6702552" y="0"/>
            <a:ext cx="5486400" cy="6858000"/>
          </a:xfrm>
          <a:prstGeom prst="rect">
            <a:avLst/>
          </a:prstGeom>
        </p:spPr>
      </p:pic>
      <p:sp>
        <p:nvSpPr>
          <p:cNvPr id="3" name="kicker"/>
          <p:cNvSpPr txBox="1"/>
          <p:nvPr/>
        </p:nvSpPr>
        <p:spPr>
          <a:xfrm>
            <a:off x="548640" y="1508760"/>
            <a:ext cx="5852160" cy="365760"/>
          </a:xfrm>
          <a:prstGeom prst="rect">
            <a:avLst/>
          </a:prstGeom>
          <a:noFill/>
          <a:ln/>
        </p:spPr>
        <p:txBody>
          <a:bodyPr wrap="square" lIns="0" tIns="0" rIns="0" bIns="0" rtlCol="0" anchor="ctr"/>
          <a:lstStyle/>
          <a:p>
            <a:pPr indent="0" marL="0">
              <a:buNone/>
            </a:pPr>
            <a:r>
              <a:rPr lang="en-US" sz="1300" b="1" spc="200" kern="0" dirty="0">
                <a:solidFill>
                  <a:schemeClr val="accent1"/>
                </a:solidFill>
              </a:rPr>
              <a:t>DIU  ·  AI-ENHANCED RESILIENT COMMUNICATIONS</a:t>
            </a:r>
            <a:endParaRPr lang="en-US" sz="1300" dirty="0"/>
          </a:p>
        </p:txBody>
      </p:sp>
      <p:sp>
        <p:nvSpPr>
          <p:cNvPr id="4" name="Text 0"/>
          <p:cNvSpPr/>
          <p:nvPr>
            <p:ph idx="100" type="title" hasCustomPrompt="1"/>
          </p:nvPr>
        </p:nvSpPr>
        <p:spPr>
          <a:xfrm>
            <a:off x="548640" y="2057400"/>
            <a:ext cx="5669280" cy="1188720"/>
          </a:xfrm>
          <a:prstGeom prst="rect">
            <a:avLst/>
          </a:prstGeom>
          <a:noFill/>
          <a:ln/>
        </p:spPr>
        <p:txBody>
          <a:bodyPr wrap="square" lIns="0" tIns="0" rIns="0" bIns="0" rtlCol="0" anchor="b"/>
          <a:lstStyle/>
          <a:p>
            <a:pPr algn="l" indent="0" marL="0">
              <a:buNone/>
            </a:pPr>
            <a:r>
              <a:rPr lang="en-US" sz="6000" b="1" dirty="0">
                <a:solidFill>
                  <a:schemeClr val="bg1"/>
                </a:solidFill>
              </a:rPr>
              <a:t>PlainSight</a:t>
            </a:r>
            <a:endParaRPr lang="en-US" sz="6000" dirty="0"/>
          </a:p>
        </p:txBody>
      </p:sp>
      <p:sp>
        <p:nvSpPr>
          <p:cNvPr id="5" name="Text 0"/>
          <p:cNvSpPr/>
          <p:nvPr>
            <p:ph idx="101" type="body" hasCustomPrompt="1"/>
          </p:nvPr>
        </p:nvSpPr>
        <p:spPr>
          <a:xfrm>
            <a:off x="548640" y="3383280"/>
            <a:ext cx="5486400" cy="1188720"/>
          </a:xfrm>
          <a:prstGeom prst="rect">
            <a:avLst/>
          </a:prstGeom>
          <a:noFill/>
          <a:ln/>
        </p:spPr>
        <p:txBody>
          <a:bodyPr wrap="square" lIns="0" tIns="0" rIns="0" bIns="0" rtlCol="0" anchor="t"/>
          <a:lstStyle/>
          <a:p>
            <a:pPr algn="l" indent="0" marL="0">
              <a:buNone/>
            </a:pPr>
            <a:r>
              <a:rPr lang="en-US" sz="2200" dirty="0">
                <a:solidFill>
                  <a:schemeClr val="bg2"/>
                </a:solidFill>
              </a:rPr>
              <a:t>Hide a sensitive message inside everyday chat, and get it back on the other side.</a:t>
            </a:r>
            <a:endParaRPr lang="en-US" sz="2200" dirty="0"/>
          </a:p>
        </p:txBody>
      </p:sp>
      <p:sp>
        <p:nvSpPr>
          <p:cNvPr id="6" name="event"/>
          <p:cNvSpPr txBox="1"/>
          <p:nvPr/>
        </p:nvSpPr>
        <p:spPr>
          <a:xfrm>
            <a:off x="548640" y="5760720"/>
            <a:ext cx="4572000" cy="365760"/>
          </a:xfrm>
          <a:prstGeom prst="rect">
            <a:avLst/>
          </a:prstGeom>
          <a:noFill/>
          <a:ln/>
        </p:spPr>
        <p:txBody>
          <a:bodyPr wrap="square" lIns="0" tIns="0" rIns="0" bIns="0" rtlCol="0" anchor="ctr"/>
          <a:lstStyle/>
          <a:p>
            <a:pPr indent="0" marL="0">
              <a:buNone/>
            </a:pPr>
            <a:r>
              <a:rPr lang="en-US" sz="1400" dirty="0">
                <a:solidFill>
                  <a:schemeClr val="accent5"/>
                </a:solidFill>
              </a:rPr>
              <a:t>SprintHack@ND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bg2"/>
                </a:solidFill>
              </a:rPr>
              <a:t>On a watched network, encryption is the red flag</a:t>
            </a:r>
            <a:endParaRPr lang="en-US" sz="3200" dirty="0"/>
          </a:p>
        </p:txBody>
      </p:sp>
      <p:sp>
        <p:nvSpPr>
          <p:cNvPr id="3" name="FiEye circle"/>
          <p:cNvSpPr/>
          <p:nvPr/>
        </p:nvSpPr>
        <p:spPr>
          <a:xfrm>
            <a:off x="548640" y="1508760"/>
            <a:ext cx="566928" cy="566928"/>
          </a:xfrm>
          <a:prstGeom prst="ellipse">
            <a:avLst/>
          </a:prstGeom>
          <a:solidFill>
            <a:schemeClr val="accent3">
              <a:alpha val="18000"/>
            </a:schemeClr>
          </a:solidFill>
          <a:ln/>
        </p:spPr>
      </p:sp>
      <p:pic>
        <p:nvPicPr>
          <p:cNvPr id="4" name="FiEye icon" descr="preencoded.png">    </p:cNvPr>
          <p:cNvPicPr>
            <a:picLocks noChangeAspect="1"/>
          </p:cNvPicPr>
          <p:nvPr/>
        </p:nvPicPr>
        <p:blipFill>
          <a:blip r:embed="rId1"/>
          <a:stretch>
            <a:fillRect/>
          </a:stretch>
        </p:blipFill>
        <p:spPr>
          <a:xfrm>
            <a:off x="696041" y="1656161"/>
            <a:ext cx="272125" cy="272125"/>
          </a:xfrm>
          <a:prstGeom prst="rect">
            <a:avLst/>
          </a:prstGeom>
        </p:spPr>
      </p:pic>
      <p:sp>
        <p:nvSpPr>
          <p:cNvPr id="5" name="They read everything header"/>
          <p:cNvSpPr txBox="1"/>
          <p:nvPr/>
        </p:nvSpPr>
        <p:spPr>
          <a:xfrm>
            <a:off x="1325880" y="1490472"/>
            <a:ext cx="5074920" cy="329184"/>
          </a:xfrm>
          <a:prstGeom prst="rect">
            <a:avLst/>
          </a:prstGeom>
          <a:noFill/>
          <a:ln/>
        </p:spPr>
        <p:txBody>
          <a:bodyPr wrap="square" lIns="0" tIns="0" rIns="0" bIns="0" rtlCol="0" anchor="ctr"/>
          <a:lstStyle/>
          <a:p>
            <a:pPr indent="0" marL="0">
              <a:buNone/>
            </a:pPr>
            <a:r>
              <a:rPr lang="en-US" sz="1800" b="1" dirty="0">
                <a:solidFill>
                  <a:schemeClr val="bg2"/>
                </a:solidFill>
              </a:rPr>
              <a:t>They read everything</a:t>
            </a:r>
            <a:endParaRPr lang="en-US" sz="1800" dirty="0"/>
          </a:p>
        </p:txBody>
      </p:sp>
      <p:sp>
        <p:nvSpPr>
          <p:cNvPr id="6" name="They read everything body"/>
          <p:cNvSpPr txBox="1"/>
          <p:nvPr/>
        </p:nvSpPr>
        <p:spPr>
          <a:xfrm>
            <a:off x="1325880" y="1837944"/>
            <a:ext cx="5074920" cy="685800"/>
          </a:xfrm>
          <a:prstGeom prst="rect">
            <a:avLst/>
          </a:prstGeom>
          <a:noFill/>
          <a:ln/>
        </p:spPr>
        <p:txBody>
          <a:bodyPr wrap="square" lIns="0" tIns="0" rIns="0" bIns="0" rtlCol="0" anchor="t"/>
          <a:lstStyle/>
          <a:p>
            <a:pPr indent="0" marL="0">
              <a:buNone/>
            </a:pPr>
            <a:r>
              <a:rPr lang="en-US" sz="1500" dirty="0">
                <a:solidFill>
                  <a:schemeClr val="accent5"/>
                </a:solidFill>
              </a:rPr>
              <a:t>A nation-state adversary sees all plaintext: lawful intercept, national firewalls, data pulled from providers.</a:t>
            </a:r>
            <a:endParaRPr lang="en-US" sz="1500" dirty="0"/>
          </a:p>
        </p:txBody>
      </p:sp>
      <p:sp>
        <p:nvSpPr>
          <p:cNvPr id="7" name="FiVolumeX circle"/>
          <p:cNvSpPr/>
          <p:nvPr/>
        </p:nvSpPr>
        <p:spPr>
          <a:xfrm>
            <a:off x="548640" y="2971800"/>
            <a:ext cx="566928" cy="566928"/>
          </a:xfrm>
          <a:prstGeom prst="ellipse">
            <a:avLst/>
          </a:prstGeom>
          <a:solidFill>
            <a:schemeClr val="accent4">
              <a:alpha val="18000"/>
            </a:schemeClr>
          </a:solidFill>
          <a:ln/>
        </p:spPr>
      </p:sp>
      <p:pic>
        <p:nvPicPr>
          <p:cNvPr id="8" name="FiVolumeX icon" descr="preencoded.png">    </p:cNvPr>
          <p:cNvPicPr>
            <a:picLocks noChangeAspect="1"/>
          </p:cNvPicPr>
          <p:nvPr/>
        </p:nvPicPr>
        <p:blipFill>
          <a:blip r:embed="rId2"/>
          <a:stretch>
            <a:fillRect/>
          </a:stretch>
        </p:blipFill>
        <p:spPr>
          <a:xfrm>
            <a:off x="696041" y="3119201"/>
            <a:ext cx="272125" cy="272125"/>
          </a:xfrm>
          <a:prstGeom prst="rect">
            <a:avLst/>
          </a:prstGeom>
        </p:spPr>
      </p:pic>
      <p:sp>
        <p:nvSpPr>
          <p:cNvPr id="9" name="Silence is the signal header"/>
          <p:cNvSpPr txBox="1"/>
          <p:nvPr/>
        </p:nvSpPr>
        <p:spPr>
          <a:xfrm>
            <a:off x="1325880" y="2953512"/>
            <a:ext cx="5074920" cy="329184"/>
          </a:xfrm>
          <a:prstGeom prst="rect">
            <a:avLst/>
          </a:prstGeom>
          <a:noFill/>
          <a:ln/>
        </p:spPr>
        <p:txBody>
          <a:bodyPr wrap="square" lIns="0" tIns="0" rIns="0" bIns="0" rtlCol="0" anchor="ctr"/>
          <a:lstStyle/>
          <a:p>
            <a:pPr indent="0" marL="0">
              <a:buNone/>
            </a:pPr>
            <a:r>
              <a:rPr lang="en-US" sz="1800" b="1" dirty="0">
                <a:solidFill>
                  <a:schemeClr val="bg2"/>
                </a:solidFill>
              </a:rPr>
              <a:t>Silence is the signal</a:t>
            </a:r>
            <a:endParaRPr lang="en-US" sz="1800" dirty="0"/>
          </a:p>
        </p:txBody>
      </p:sp>
      <p:sp>
        <p:nvSpPr>
          <p:cNvPr id="10" name="Silence is the signal body"/>
          <p:cNvSpPr txBox="1"/>
          <p:nvPr/>
        </p:nvSpPr>
        <p:spPr>
          <a:xfrm>
            <a:off x="1325880" y="3300984"/>
            <a:ext cx="5074920" cy="685800"/>
          </a:xfrm>
          <a:prstGeom prst="rect">
            <a:avLst/>
          </a:prstGeom>
          <a:noFill/>
          <a:ln/>
        </p:spPr>
        <p:txBody>
          <a:bodyPr wrap="square" lIns="0" tIns="0" rIns="0" bIns="0" rtlCol="0" anchor="t"/>
          <a:lstStyle/>
          <a:p>
            <a:pPr indent="0" marL="0">
              <a:buNone/>
            </a:pPr>
            <a:r>
              <a:rPr lang="en-US" sz="1500" dirty="0">
                <a:solidFill>
                  <a:schemeClr val="accent5"/>
                </a:solidFill>
              </a:rPr>
              <a:t>Ciphertext hides the words but flags the sender. You don't bug every hotel room; you watch for the one that goes quiet.</a:t>
            </a:r>
            <a:endParaRPr lang="en-US" sz="1500" dirty="0"/>
          </a:p>
        </p:txBody>
      </p:sp>
      <p:sp>
        <p:nvSpPr>
          <p:cNvPr id="11" name="FiUsers circle"/>
          <p:cNvSpPr/>
          <p:nvPr/>
        </p:nvSpPr>
        <p:spPr>
          <a:xfrm>
            <a:off x="548640" y="4434840"/>
            <a:ext cx="566928" cy="566928"/>
          </a:xfrm>
          <a:prstGeom prst="ellipse">
            <a:avLst/>
          </a:prstGeom>
          <a:solidFill>
            <a:schemeClr val="accent1">
              <a:alpha val="18000"/>
            </a:schemeClr>
          </a:solidFill>
          <a:ln/>
        </p:spPr>
      </p:sp>
      <p:pic>
        <p:nvPicPr>
          <p:cNvPr id="12" name="FiUsers icon" descr="preencoded.png">    </p:cNvPr>
          <p:cNvPicPr>
            <a:picLocks noChangeAspect="1"/>
          </p:cNvPicPr>
          <p:nvPr/>
        </p:nvPicPr>
        <p:blipFill>
          <a:blip r:embed="rId3"/>
          <a:stretch>
            <a:fillRect/>
          </a:stretch>
        </p:blipFill>
        <p:spPr>
          <a:xfrm>
            <a:off x="696041" y="4582241"/>
            <a:ext cx="272125" cy="272125"/>
          </a:xfrm>
          <a:prstGeom prst="rect">
            <a:avLst/>
          </a:prstGeom>
        </p:spPr>
      </p:pic>
      <p:sp>
        <p:nvSpPr>
          <p:cNvPr id="13" name="This is how people coordinate header"/>
          <p:cNvSpPr txBox="1"/>
          <p:nvPr/>
        </p:nvSpPr>
        <p:spPr>
          <a:xfrm>
            <a:off x="1325880" y="4416552"/>
            <a:ext cx="5074920" cy="329184"/>
          </a:xfrm>
          <a:prstGeom prst="rect">
            <a:avLst/>
          </a:prstGeom>
          <a:noFill/>
          <a:ln/>
        </p:spPr>
        <p:txBody>
          <a:bodyPr wrap="square" lIns="0" tIns="0" rIns="0" bIns="0" rtlCol="0" anchor="ctr"/>
          <a:lstStyle/>
          <a:p>
            <a:pPr indent="0" marL="0">
              <a:buNone/>
            </a:pPr>
            <a:r>
              <a:rPr lang="en-US" sz="1800" b="1" dirty="0">
                <a:solidFill>
                  <a:schemeClr val="bg2"/>
                </a:solidFill>
              </a:rPr>
              <a:t>This is how people coordinate</a:t>
            </a:r>
            <a:endParaRPr lang="en-US" sz="1800" dirty="0"/>
          </a:p>
        </p:txBody>
      </p:sp>
      <p:sp>
        <p:nvSpPr>
          <p:cNvPr id="14" name="This is how people coordinate body"/>
          <p:cNvSpPr txBox="1"/>
          <p:nvPr/>
        </p:nvSpPr>
        <p:spPr>
          <a:xfrm>
            <a:off x="1325880" y="4764024"/>
            <a:ext cx="5074920" cy="685800"/>
          </a:xfrm>
          <a:prstGeom prst="rect">
            <a:avLst/>
          </a:prstGeom>
          <a:noFill/>
          <a:ln/>
        </p:spPr>
        <p:txBody>
          <a:bodyPr wrap="square" lIns="0" tIns="0" rIns="0" bIns="0" rtlCol="0" anchor="t"/>
          <a:lstStyle/>
          <a:p>
            <a:pPr indent="0" marL="0">
              <a:buNone/>
            </a:pPr>
            <a:r>
              <a:rPr lang="en-US" sz="1500" dirty="0">
                <a:solidFill>
                  <a:schemeClr val="accent5"/>
                </a:solidFill>
              </a:rPr>
              <a:t>Kabul 2021, Iran 2009: evacuations and protests organized over WhatsApp and Twitter, on phones that get checked.</a:t>
            </a:r>
            <a:endParaRPr lang="en-US" sz="1500" dirty="0"/>
          </a:p>
        </p:txBody>
      </p:sp>
      <p:sp>
        <p:nvSpPr>
          <p:cNvPr id="15" name="encrypted message card"/>
          <p:cNvSpPr/>
          <p:nvPr/>
        </p:nvSpPr>
        <p:spPr>
          <a:xfrm>
            <a:off x="6903720" y="1508760"/>
            <a:ext cx="4736592" cy="2103120"/>
          </a:xfrm>
          <a:prstGeom prst="roundRect">
            <a:avLst>
              <a:gd name="adj" fmla="val 6087"/>
            </a:avLst>
          </a:prstGeom>
          <a:solidFill>
            <a:schemeClr val="tx2"/>
          </a:solidFill>
          <a:ln w="12700">
            <a:solidFill>
              <a:schemeClr val="accent6"/>
            </a:solidFill>
            <a:prstDash val="solid"/>
          </a:ln>
        </p:spPr>
      </p:sp>
      <p:sp>
        <p:nvSpPr>
          <p:cNvPr id="16" name="label a"/>
          <p:cNvSpPr txBox="1"/>
          <p:nvPr/>
        </p:nvSpPr>
        <p:spPr>
          <a:xfrm>
            <a:off x="7178040" y="1691640"/>
            <a:ext cx="2743200" cy="274320"/>
          </a:xfrm>
          <a:prstGeom prst="rect">
            <a:avLst/>
          </a:prstGeom>
          <a:noFill/>
          <a:ln/>
        </p:spPr>
        <p:txBody>
          <a:bodyPr wrap="square" lIns="0" tIns="0" rIns="0" bIns="0" rtlCol="0" anchor="ctr"/>
          <a:lstStyle/>
          <a:p>
            <a:pPr indent="0" marL="0">
              <a:buNone/>
            </a:pPr>
            <a:r>
              <a:rPr lang="en-US" sz="1100" b="1" spc="100" kern="0" dirty="0">
                <a:solidFill>
                  <a:schemeClr val="accent5"/>
                </a:solidFill>
              </a:rPr>
              <a:t>INTERCEPTED</a:t>
            </a:r>
            <a:endParaRPr lang="en-US" sz="1100" dirty="0"/>
          </a:p>
        </p:txBody>
      </p:sp>
      <p:sp>
        <p:nvSpPr>
          <p:cNvPr id="17" name="cipher bubble"/>
          <p:cNvSpPr/>
          <p:nvPr/>
        </p:nvSpPr>
        <p:spPr>
          <a:xfrm>
            <a:off x="7178040" y="2057400"/>
            <a:ext cx="4187952" cy="777240"/>
          </a:xfrm>
          <a:prstGeom prst="roundRect">
            <a:avLst>
              <a:gd name="adj" fmla="val 16471"/>
            </a:avLst>
          </a:prstGeom>
          <a:solidFill>
            <a:schemeClr val="tx1"/>
          </a:solidFill>
          <a:ln w="12700">
            <a:solidFill>
              <a:schemeClr val="accent6"/>
            </a:solidFill>
            <a:prstDash val="solid"/>
          </a:ln>
        </p:spPr>
      </p:sp>
      <p:sp>
        <p:nvSpPr>
          <p:cNvPr id="18" name="ciphertext"/>
          <p:cNvSpPr txBox="1"/>
          <p:nvPr/>
        </p:nvSpPr>
        <p:spPr>
          <a:xfrm>
            <a:off x="7360920" y="2057400"/>
            <a:ext cx="3886200" cy="777240"/>
          </a:xfrm>
          <a:prstGeom prst="rect">
            <a:avLst/>
          </a:prstGeom>
          <a:noFill/>
          <a:ln/>
        </p:spPr>
        <p:txBody>
          <a:bodyPr wrap="square" lIns="0" tIns="0" rIns="0" bIns="0" rtlCol="0" anchor="ctr"/>
          <a:lstStyle/>
          <a:p>
            <a:pPr indent="0" marL="0">
              <a:buNone/>
            </a:pPr>
            <a:r>
              <a:rPr lang="en-US" sz="1400" dirty="0">
                <a:solidFill>
                  <a:schemeClr val="accent5"/>
                </a:solidFill>
                <a:latin typeface="Courier New" pitchFamily="34" charset="0"/>
                <a:ea typeface="Courier New" pitchFamily="34" charset="-122"/>
                <a:cs typeface="Courier New" pitchFamily="34" charset="-120"/>
              </a:rPr>
              <a:t>U2FsdGVkX19vK3pQ8mWzE4rT0a…</a:t>
            </a:r>
            <a:endParaRPr lang="en-US" sz="1400" dirty="0"/>
          </a:p>
        </p:txBody>
      </p:sp>
      <p:pic>
        <p:nvPicPr>
          <p:cNvPr id="19" name="flag icon" descr="preencoded.png">    </p:cNvPr>
          <p:cNvPicPr>
            <a:picLocks noChangeAspect="1"/>
          </p:cNvPicPr>
          <p:nvPr/>
        </p:nvPicPr>
        <p:blipFill>
          <a:blip r:embed="rId4"/>
          <a:stretch>
            <a:fillRect/>
          </a:stretch>
        </p:blipFill>
        <p:spPr>
          <a:xfrm>
            <a:off x="7178040" y="3044952"/>
            <a:ext cx="274320" cy="274320"/>
          </a:xfrm>
          <a:prstGeom prst="rect">
            <a:avLst/>
          </a:prstGeom>
        </p:spPr>
      </p:pic>
      <p:sp>
        <p:nvSpPr>
          <p:cNvPr id="20" name="flagged"/>
          <p:cNvSpPr txBox="1"/>
          <p:nvPr/>
        </p:nvSpPr>
        <p:spPr>
          <a:xfrm>
            <a:off x="7571232" y="3017520"/>
            <a:ext cx="3840480" cy="329184"/>
          </a:xfrm>
          <a:prstGeom prst="rect">
            <a:avLst/>
          </a:prstGeom>
          <a:noFill/>
          <a:ln/>
        </p:spPr>
        <p:txBody>
          <a:bodyPr wrap="square" lIns="0" tIns="0" rIns="0" bIns="0" rtlCol="0" anchor="ctr"/>
          <a:lstStyle/>
          <a:p>
            <a:pPr indent="0" marL="0">
              <a:buNone/>
            </a:pPr>
            <a:r>
              <a:rPr lang="en-US" sz="1500" b="1" dirty="0">
                <a:solidFill>
                  <a:schemeClr val="accent4"/>
                </a:solidFill>
              </a:rPr>
              <a:t>Unreadable, so it gets flagged</a:t>
            </a:r>
            <a:endParaRPr lang="en-US" sz="1500" dirty="0"/>
          </a:p>
        </p:txBody>
      </p:sp>
      <p:sp>
        <p:nvSpPr>
          <p:cNvPr id="21" name="benign message card"/>
          <p:cNvSpPr/>
          <p:nvPr/>
        </p:nvSpPr>
        <p:spPr>
          <a:xfrm>
            <a:off x="6903720" y="3840480"/>
            <a:ext cx="4736592" cy="2103120"/>
          </a:xfrm>
          <a:prstGeom prst="roundRect">
            <a:avLst>
              <a:gd name="adj" fmla="val 6087"/>
            </a:avLst>
          </a:prstGeom>
          <a:solidFill>
            <a:schemeClr val="tx2"/>
          </a:solidFill>
          <a:ln w="12700">
            <a:solidFill>
              <a:schemeClr val="accent6"/>
            </a:solidFill>
            <a:prstDash val="solid"/>
          </a:ln>
        </p:spPr>
      </p:sp>
      <p:sp>
        <p:nvSpPr>
          <p:cNvPr id="22" name="label b"/>
          <p:cNvSpPr txBox="1"/>
          <p:nvPr/>
        </p:nvSpPr>
        <p:spPr>
          <a:xfrm>
            <a:off x="7178040" y="4023360"/>
            <a:ext cx="2743200" cy="274320"/>
          </a:xfrm>
          <a:prstGeom prst="rect">
            <a:avLst/>
          </a:prstGeom>
          <a:noFill/>
          <a:ln/>
        </p:spPr>
        <p:txBody>
          <a:bodyPr wrap="square" lIns="0" tIns="0" rIns="0" bIns="0" rtlCol="0" anchor="ctr"/>
          <a:lstStyle/>
          <a:p>
            <a:pPr indent="0" marL="0">
              <a:buNone/>
            </a:pPr>
            <a:r>
              <a:rPr lang="en-US" sz="1100" b="1" spc="100" kern="0" dirty="0">
                <a:solidFill>
                  <a:schemeClr val="accent5"/>
                </a:solidFill>
              </a:rPr>
              <a:t>INTERCEPTED</a:t>
            </a:r>
            <a:endParaRPr lang="en-US" sz="1100" dirty="0"/>
          </a:p>
        </p:txBody>
      </p:sp>
      <p:sp>
        <p:nvSpPr>
          <p:cNvPr id="23" name="chat bubble"/>
          <p:cNvSpPr/>
          <p:nvPr/>
        </p:nvSpPr>
        <p:spPr>
          <a:xfrm>
            <a:off x="7178040" y="4389120"/>
            <a:ext cx="4187952" cy="777240"/>
          </a:xfrm>
          <a:prstGeom prst="roundRect">
            <a:avLst>
              <a:gd name="adj" fmla="val 16471"/>
            </a:avLst>
          </a:prstGeom>
          <a:solidFill>
            <a:schemeClr val="accent3"/>
          </a:solidFill>
          <a:ln/>
        </p:spPr>
      </p:sp>
      <p:sp>
        <p:nvSpPr>
          <p:cNvPr id="24" name="chat text"/>
          <p:cNvSpPr txBox="1"/>
          <p:nvPr/>
        </p:nvSpPr>
        <p:spPr>
          <a:xfrm>
            <a:off x="7360920" y="4389120"/>
            <a:ext cx="3886200" cy="777240"/>
          </a:xfrm>
          <a:prstGeom prst="rect">
            <a:avLst/>
          </a:prstGeom>
          <a:noFill/>
          <a:ln/>
        </p:spPr>
        <p:txBody>
          <a:bodyPr wrap="square" lIns="0" tIns="0" rIns="0" bIns="0" rtlCol="0" anchor="ctr"/>
          <a:lstStyle/>
          <a:p>
            <a:pPr indent="0" marL="0">
              <a:buNone/>
            </a:pPr>
            <a:r>
              <a:rPr lang="en-US" sz="1500" dirty="0">
                <a:solidFill>
                  <a:schemeClr val="bg1"/>
                </a:solidFill>
              </a:rPr>
              <a:t>Game night at the east bakery entrance, 7:30pm Thursday!</a:t>
            </a:r>
            <a:endParaRPr lang="en-US" sz="1500" dirty="0"/>
          </a:p>
        </p:txBody>
      </p:sp>
      <p:pic>
        <p:nvPicPr>
          <p:cNvPr id="25" name="ok icon" descr="preencoded.png">    </p:cNvPr>
          <p:cNvPicPr>
            <a:picLocks noChangeAspect="1"/>
          </p:cNvPicPr>
          <p:nvPr/>
        </p:nvPicPr>
        <p:blipFill>
          <a:blip r:embed="rId5"/>
          <a:stretch>
            <a:fillRect/>
          </a:stretch>
        </p:blipFill>
        <p:spPr>
          <a:xfrm>
            <a:off x="7178040" y="5376672"/>
            <a:ext cx="274320" cy="274320"/>
          </a:xfrm>
          <a:prstGeom prst="rect">
            <a:avLst/>
          </a:prstGeom>
        </p:spPr>
      </p:pic>
      <p:sp>
        <p:nvSpPr>
          <p:cNvPr id="26" name="ignored"/>
          <p:cNvSpPr txBox="1"/>
          <p:nvPr/>
        </p:nvSpPr>
        <p:spPr>
          <a:xfrm>
            <a:off x="7571232" y="5349240"/>
            <a:ext cx="3840480" cy="329184"/>
          </a:xfrm>
          <a:prstGeom prst="rect">
            <a:avLst/>
          </a:prstGeom>
          <a:noFill/>
          <a:ln/>
        </p:spPr>
        <p:txBody>
          <a:bodyPr wrap="square" lIns="0" tIns="0" rIns="0" bIns="0" rtlCol="0" anchor="ctr"/>
          <a:lstStyle/>
          <a:p>
            <a:pPr indent="0" marL="0">
              <a:buNone/>
            </a:pPr>
            <a:r>
              <a:rPr lang="en-US" sz="1500" b="1" dirty="0">
                <a:solidFill>
                  <a:schemeClr val="accent2"/>
                </a:solidFill>
              </a:rPr>
              <a:t>Ordinary, so it gets ignored</a:t>
            </a:r>
            <a:endParaRPr lang="en-US"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7AE"/>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bg2"/>
                </a:solidFill>
              </a:rPr>
              <a:t>A codebook is a confession</a:t>
            </a:r>
            <a:endParaRPr lang="en-US" sz="3200" dirty="0"/>
          </a:p>
        </p:txBody>
      </p:sp>
      <p:sp>
        <p:nvSpPr>
          <p:cNvPr id="3" name="Proves you're an asset card"/>
          <p:cNvSpPr/>
          <p:nvPr/>
        </p:nvSpPr>
        <p:spPr>
          <a:xfrm>
            <a:off x="548640" y="1508760"/>
            <a:ext cx="3474720" cy="2697480"/>
          </a:xfrm>
          <a:prstGeom prst="roundRect">
            <a:avLst>
              <a:gd name="adj" fmla="val 4746"/>
            </a:avLst>
          </a:prstGeom>
          <a:solidFill>
            <a:schemeClr val="tx2"/>
          </a:solidFill>
          <a:ln w="12700">
            <a:solidFill>
              <a:schemeClr val="accent6"/>
            </a:solidFill>
            <a:prstDash val="solid"/>
          </a:ln>
        </p:spPr>
      </p:sp>
      <p:sp>
        <p:nvSpPr>
          <p:cNvPr id="4" name="FiBookOpen circle"/>
          <p:cNvSpPr/>
          <p:nvPr/>
        </p:nvSpPr>
        <p:spPr>
          <a:xfrm>
            <a:off x="868680" y="1783080"/>
            <a:ext cx="640080" cy="640080"/>
          </a:xfrm>
          <a:prstGeom prst="ellipse">
            <a:avLst/>
          </a:prstGeom>
          <a:solidFill>
            <a:schemeClr val="accent4">
              <a:alpha val="18000"/>
            </a:schemeClr>
          </a:solidFill>
          <a:ln/>
        </p:spPr>
      </p:sp>
      <p:pic>
        <p:nvPicPr>
          <p:cNvPr id="5" name="FiBookOpen icon" descr="preencoded.png">    </p:cNvPr>
          <p:cNvPicPr>
            <a:picLocks noChangeAspect="1"/>
          </p:cNvPicPr>
          <p:nvPr/>
        </p:nvPicPr>
        <p:blipFill>
          <a:blip r:embed="rId1"/>
          <a:stretch>
            <a:fillRect/>
          </a:stretch>
        </p:blipFill>
        <p:spPr>
          <a:xfrm>
            <a:off x="1035101" y="1949501"/>
            <a:ext cx="307238" cy="307238"/>
          </a:xfrm>
          <a:prstGeom prst="rect">
            <a:avLst/>
          </a:prstGeom>
        </p:spPr>
      </p:pic>
      <p:sp>
        <p:nvSpPr>
          <p:cNvPr id="6" name="Proves you&amp;apos;re an asset"/>
          <p:cNvSpPr txBox="1"/>
          <p:nvPr/>
        </p:nvSpPr>
        <p:spPr>
          <a:xfrm>
            <a:off x="868680" y="2651760"/>
            <a:ext cx="2880360" cy="411480"/>
          </a:xfrm>
          <a:prstGeom prst="rect">
            <a:avLst/>
          </a:prstGeom>
          <a:noFill/>
          <a:ln/>
        </p:spPr>
        <p:txBody>
          <a:bodyPr wrap="square" lIns="0" tIns="0" rIns="0" bIns="0" rtlCol="0" anchor="ctr"/>
          <a:lstStyle/>
          <a:p>
            <a:pPr indent="0" marL="0">
              <a:buNone/>
            </a:pPr>
            <a:r>
              <a:rPr lang="en-US" sz="1900" b="1" dirty="0">
                <a:solidFill>
                  <a:schemeClr val="bg2"/>
                </a:solidFill>
              </a:rPr>
              <a:t>Proves you're an asset</a:t>
            </a:r>
            <a:endParaRPr lang="en-US" sz="1900" dirty="0"/>
          </a:p>
        </p:txBody>
      </p:sp>
      <p:sp>
        <p:nvSpPr>
          <p:cNvPr id="7" name="Proves you&amp;apos;re an asset body"/>
          <p:cNvSpPr txBox="1"/>
          <p:nvPr/>
        </p:nvSpPr>
        <p:spPr>
          <a:xfrm>
            <a:off x="868680" y="3108960"/>
            <a:ext cx="2880360" cy="914400"/>
          </a:xfrm>
          <a:prstGeom prst="rect">
            <a:avLst/>
          </a:prstGeom>
          <a:noFill/>
          <a:ln/>
        </p:spPr>
        <p:txBody>
          <a:bodyPr wrap="square" lIns="0" tIns="0" rIns="0" bIns="0" rtlCol="0" anchor="t"/>
          <a:lstStyle/>
          <a:p>
            <a:pPr indent="0" marL="0">
              <a:buNone/>
            </a:pPr>
            <a:r>
              <a:rPr lang="en-US" sz="1500" dirty="0">
                <a:solidFill>
                  <a:schemeClr val="accent5"/>
                </a:solidFill>
              </a:rPr>
              <a:t>A codebook has one use. Found on you, it is the evidence.</a:t>
            </a:r>
            <a:endParaRPr lang="en-US" sz="1500" dirty="0"/>
          </a:p>
        </p:txBody>
      </p:sp>
      <p:sp>
        <p:nvSpPr>
          <p:cNvPr id="8" name="Unlocks every past message card"/>
          <p:cNvSpPr/>
          <p:nvPr/>
        </p:nvSpPr>
        <p:spPr>
          <a:xfrm>
            <a:off x="4343400" y="1508760"/>
            <a:ext cx="3474720" cy="2697480"/>
          </a:xfrm>
          <a:prstGeom prst="roundRect">
            <a:avLst>
              <a:gd name="adj" fmla="val 4746"/>
            </a:avLst>
          </a:prstGeom>
          <a:solidFill>
            <a:schemeClr val="tx2"/>
          </a:solidFill>
          <a:ln w="12700">
            <a:solidFill>
              <a:schemeClr val="accent6"/>
            </a:solidFill>
            <a:prstDash val="solid"/>
          </a:ln>
        </p:spPr>
      </p:sp>
      <p:sp>
        <p:nvSpPr>
          <p:cNvPr id="9" name="FiArchive circle"/>
          <p:cNvSpPr/>
          <p:nvPr/>
        </p:nvSpPr>
        <p:spPr>
          <a:xfrm>
            <a:off x="4663440" y="1783080"/>
            <a:ext cx="640080" cy="640080"/>
          </a:xfrm>
          <a:prstGeom prst="ellipse">
            <a:avLst/>
          </a:prstGeom>
          <a:solidFill>
            <a:schemeClr val="accent4">
              <a:alpha val="18000"/>
            </a:schemeClr>
          </a:solidFill>
          <a:ln/>
        </p:spPr>
      </p:sp>
      <p:pic>
        <p:nvPicPr>
          <p:cNvPr id="10" name="FiArchive icon" descr="preencoded.png">    </p:cNvPr>
          <p:cNvPicPr>
            <a:picLocks noChangeAspect="1"/>
          </p:cNvPicPr>
          <p:nvPr/>
        </p:nvPicPr>
        <p:blipFill>
          <a:blip r:embed="rId2"/>
          <a:stretch>
            <a:fillRect/>
          </a:stretch>
        </p:blipFill>
        <p:spPr>
          <a:xfrm>
            <a:off x="4829861" y="1949501"/>
            <a:ext cx="307238" cy="307238"/>
          </a:xfrm>
          <a:prstGeom prst="rect">
            <a:avLst/>
          </a:prstGeom>
        </p:spPr>
      </p:pic>
      <p:sp>
        <p:nvSpPr>
          <p:cNvPr id="11" name="Unlocks every past message"/>
          <p:cNvSpPr txBox="1"/>
          <p:nvPr/>
        </p:nvSpPr>
        <p:spPr>
          <a:xfrm>
            <a:off x="4663440" y="2651760"/>
            <a:ext cx="2880360" cy="411480"/>
          </a:xfrm>
          <a:prstGeom prst="rect">
            <a:avLst/>
          </a:prstGeom>
          <a:noFill/>
          <a:ln/>
        </p:spPr>
        <p:txBody>
          <a:bodyPr wrap="square" lIns="0" tIns="0" rIns="0" bIns="0" rtlCol="0" anchor="ctr"/>
          <a:lstStyle/>
          <a:p>
            <a:pPr indent="0" marL="0">
              <a:buNone/>
            </a:pPr>
            <a:r>
              <a:rPr lang="en-US" sz="1900" b="1" dirty="0">
                <a:solidFill>
                  <a:schemeClr val="bg2"/>
                </a:solidFill>
              </a:rPr>
              <a:t>Unlocks every past message</a:t>
            </a:r>
            <a:endParaRPr lang="en-US" sz="1900" dirty="0"/>
          </a:p>
        </p:txBody>
      </p:sp>
      <p:sp>
        <p:nvSpPr>
          <p:cNvPr id="12" name="Unlocks every past message body"/>
          <p:cNvSpPr txBox="1"/>
          <p:nvPr/>
        </p:nvSpPr>
        <p:spPr>
          <a:xfrm>
            <a:off x="4663440" y="3108960"/>
            <a:ext cx="2880360" cy="914400"/>
          </a:xfrm>
          <a:prstGeom prst="rect">
            <a:avLst/>
          </a:prstGeom>
          <a:noFill/>
          <a:ln/>
        </p:spPr>
        <p:txBody>
          <a:bodyPr wrap="square" lIns="0" tIns="0" rIns="0" bIns="0" rtlCol="0" anchor="t"/>
          <a:lstStyle/>
          <a:p>
            <a:pPr indent="0" marL="0">
              <a:buNone/>
            </a:pPr>
            <a:r>
              <a:rPr lang="en-US" sz="1500" dirty="0">
                <a:solidFill>
                  <a:schemeClr val="accent5"/>
                </a:solidFill>
              </a:rPr>
              <a:t>Every intercepted message ever sent with it can now be read.</a:t>
            </a:r>
            <a:endParaRPr lang="en-US" sz="1500" dirty="0"/>
          </a:p>
        </p:txBody>
      </p:sp>
      <p:sp>
        <p:nvSpPr>
          <p:cNvPr id="13" name="Exposes the whole network card"/>
          <p:cNvSpPr/>
          <p:nvPr/>
        </p:nvSpPr>
        <p:spPr>
          <a:xfrm>
            <a:off x="8138160" y="1508760"/>
            <a:ext cx="3474720" cy="2697480"/>
          </a:xfrm>
          <a:prstGeom prst="roundRect">
            <a:avLst>
              <a:gd name="adj" fmla="val 4746"/>
            </a:avLst>
          </a:prstGeom>
          <a:solidFill>
            <a:schemeClr val="tx2"/>
          </a:solidFill>
          <a:ln w="12700">
            <a:solidFill>
              <a:schemeClr val="accent6"/>
            </a:solidFill>
            <a:prstDash val="solid"/>
          </a:ln>
        </p:spPr>
      </p:sp>
      <p:sp>
        <p:nvSpPr>
          <p:cNvPr id="14" name="FiShare2 circle"/>
          <p:cNvSpPr/>
          <p:nvPr/>
        </p:nvSpPr>
        <p:spPr>
          <a:xfrm>
            <a:off x="8458200" y="1783080"/>
            <a:ext cx="640080" cy="640080"/>
          </a:xfrm>
          <a:prstGeom prst="ellipse">
            <a:avLst/>
          </a:prstGeom>
          <a:solidFill>
            <a:schemeClr val="accent4">
              <a:alpha val="18000"/>
            </a:schemeClr>
          </a:solidFill>
          <a:ln/>
        </p:spPr>
      </p:sp>
      <p:pic>
        <p:nvPicPr>
          <p:cNvPr id="15" name="FiShare2 icon" descr="preencoded.png">    </p:cNvPr>
          <p:cNvPicPr>
            <a:picLocks noChangeAspect="1"/>
          </p:cNvPicPr>
          <p:nvPr/>
        </p:nvPicPr>
        <p:blipFill>
          <a:blip r:embed="rId3"/>
          <a:stretch>
            <a:fillRect/>
          </a:stretch>
        </p:blipFill>
        <p:spPr>
          <a:xfrm>
            <a:off x="8624621" y="1949501"/>
            <a:ext cx="307238" cy="307238"/>
          </a:xfrm>
          <a:prstGeom prst="rect">
            <a:avLst/>
          </a:prstGeom>
        </p:spPr>
      </p:pic>
      <p:sp>
        <p:nvSpPr>
          <p:cNvPr id="16" name="Exposes the whole network"/>
          <p:cNvSpPr txBox="1"/>
          <p:nvPr/>
        </p:nvSpPr>
        <p:spPr>
          <a:xfrm>
            <a:off x="8458200" y="2651760"/>
            <a:ext cx="2880360" cy="411480"/>
          </a:xfrm>
          <a:prstGeom prst="rect">
            <a:avLst/>
          </a:prstGeom>
          <a:noFill/>
          <a:ln/>
        </p:spPr>
        <p:txBody>
          <a:bodyPr wrap="square" lIns="0" tIns="0" rIns="0" bIns="0" rtlCol="0" anchor="ctr"/>
          <a:lstStyle/>
          <a:p>
            <a:pPr indent="0" marL="0">
              <a:buNone/>
            </a:pPr>
            <a:r>
              <a:rPr lang="en-US" sz="1900" b="1" dirty="0">
                <a:solidFill>
                  <a:schemeClr val="bg2"/>
                </a:solidFill>
              </a:rPr>
              <a:t>Exposes the whole network</a:t>
            </a:r>
            <a:endParaRPr lang="en-US" sz="1900" dirty="0"/>
          </a:p>
        </p:txBody>
      </p:sp>
      <p:sp>
        <p:nvSpPr>
          <p:cNvPr id="17" name="Exposes the whole network body"/>
          <p:cNvSpPr txBox="1"/>
          <p:nvPr/>
        </p:nvSpPr>
        <p:spPr>
          <a:xfrm>
            <a:off x="8458200" y="3108960"/>
            <a:ext cx="2880360" cy="914400"/>
          </a:xfrm>
          <a:prstGeom prst="rect">
            <a:avLst/>
          </a:prstGeom>
          <a:noFill/>
          <a:ln/>
        </p:spPr>
        <p:txBody>
          <a:bodyPr wrap="square" lIns="0" tIns="0" rIns="0" bIns="0" rtlCol="0" anchor="t"/>
          <a:lstStyle/>
          <a:p>
            <a:pPr indent="0" marL="0">
              <a:buNone/>
            </a:pPr>
            <a:r>
              <a:rPr lang="en-US" sz="1500" dirty="0">
                <a:solidFill>
                  <a:schemeClr val="accent5"/>
                </a:solidFill>
              </a:rPr>
              <a:t>Everyone else using the same book is compromised at once.</a:t>
            </a:r>
            <a:endParaRPr lang="en-US" sz="1500" dirty="0"/>
          </a:p>
        </p:txBody>
      </p:sp>
      <p:sp>
        <p:nvSpPr>
          <p:cNvPr id="18" name="our bet panel"/>
          <p:cNvSpPr/>
          <p:nvPr/>
        </p:nvSpPr>
        <p:spPr>
          <a:xfrm>
            <a:off x="548640" y="4526280"/>
            <a:ext cx="11064240" cy="1463040"/>
          </a:xfrm>
          <a:prstGeom prst="roundRect">
            <a:avLst>
              <a:gd name="adj" fmla="val 8750"/>
            </a:avLst>
          </a:prstGeom>
          <a:solidFill>
            <a:schemeClr val="tx1"/>
          </a:solidFill>
          <a:ln w="12700">
            <a:solidFill>
              <a:schemeClr val="accent6"/>
            </a:solidFill>
            <a:prstDash val="solid"/>
          </a:ln>
        </p:spPr>
      </p:sp>
      <p:sp>
        <p:nvSpPr>
          <p:cNvPr id="19" name="FiShield circle"/>
          <p:cNvSpPr/>
          <p:nvPr/>
        </p:nvSpPr>
        <p:spPr>
          <a:xfrm>
            <a:off x="868680" y="4937760"/>
            <a:ext cx="640080" cy="640080"/>
          </a:xfrm>
          <a:prstGeom prst="ellipse">
            <a:avLst/>
          </a:prstGeom>
          <a:solidFill>
            <a:schemeClr val="accent2">
              <a:alpha val="18000"/>
            </a:schemeClr>
          </a:solidFill>
          <a:ln/>
        </p:spPr>
      </p:sp>
      <p:pic>
        <p:nvPicPr>
          <p:cNvPr id="20" name="FiShield icon" descr="preencoded.png">    </p:cNvPr>
          <p:cNvPicPr>
            <a:picLocks noChangeAspect="1"/>
          </p:cNvPicPr>
          <p:nvPr/>
        </p:nvPicPr>
        <p:blipFill>
          <a:blip r:embed="rId4"/>
          <a:stretch>
            <a:fillRect/>
          </a:stretch>
        </p:blipFill>
        <p:spPr>
          <a:xfrm>
            <a:off x="1035101" y="5104181"/>
            <a:ext cx="307238" cy="307238"/>
          </a:xfrm>
          <a:prstGeom prst="rect">
            <a:avLst/>
          </a:prstGeom>
        </p:spPr>
      </p:pic>
      <p:sp>
        <p:nvSpPr>
          <p:cNvPr id="21" name="our bet"/>
          <p:cNvSpPr txBox="1"/>
          <p:nvPr/>
        </p:nvSpPr>
        <p:spPr>
          <a:xfrm>
            <a:off x="1783080" y="4663440"/>
            <a:ext cx="9509760" cy="1188720"/>
          </a:xfrm>
          <a:prstGeom prst="rect">
            <a:avLst/>
          </a:prstGeom>
          <a:noFill/>
          <a:ln/>
        </p:spPr>
        <p:txBody>
          <a:bodyPr wrap="square" lIns="0" tIns="0" rIns="0" bIns="0" rtlCol="0" anchor="ctr"/>
          <a:lstStyle/>
          <a:p>
            <a:pPr indent="0" marL="0">
              <a:buNone/>
            </a:pPr>
            <a:r>
              <a:rPr lang="en-US" sz="1900" b="1" dirty="0">
                <a:solidFill>
                  <a:schemeClr val="accent2"/>
                </a:solidFill>
              </a:rPr>
              <a:t>PlainSight's bet: </a:t>
            </a:r>
            <a:pPr indent="0" marL="0">
              <a:buNone/>
            </a:pPr>
            <a:r>
              <a:rPr lang="en-US" sz="1900" dirty="0">
                <a:solidFill>
                  <a:schemeClr val="bg2"/>
                </a:solidFill>
              </a:rPr>
              <a:t>a small, ordinary-looking language model is far safer to be caught with than a codebook, and what it sends looks like normal group-chat traffic.</a:t>
            </a:r>
            <a:endParaRPr lang="en-US" sz="19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7AE"/>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bg2"/>
                </a:solidFill>
              </a:rPr>
              <a:t>Type a secret, send small talk, get the secret back</a:t>
            </a:r>
            <a:endParaRPr lang="en-US" sz="3200" dirty="0"/>
          </a:p>
        </p:txBody>
      </p:sp>
      <p:sp>
        <p:nvSpPr>
          <p:cNvPr id="3" name="1  ·  Mask card"/>
          <p:cNvSpPr/>
          <p:nvPr/>
        </p:nvSpPr>
        <p:spPr>
          <a:xfrm>
            <a:off x="548640" y="1508760"/>
            <a:ext cx="3474720" cy="2514600"/>
          </a:xfrm>
          <a:prstGeom prst="roundRect">
            <a:avLst>
              <a:gd name="adj" fmla="val 5091"/>
            </a:avLst>
          </a:prstGeom>
          <a:solidFill>
            <a:schemeClr val="tx2"/>
          </a:solidFill>
          <a:ln w="12700">
            <a:solidFill>
              <a:schemeClr val="accent6"/>
            </a:solidFill>
            <a:prstDash val="solid"/>
          </a:ln>
        </p:spPr>
      </p:sp>
      <p:sp>
        <p:nvSpPr>
          <p:cNvPr id="4" name="FiLock circle"/>
          <p:cNvSpPr/>
          <p:nvPr/>
        </p:nvSpPr>
        <p:spPr>
          <a:xfrm>
            <a:off x="868680" y="1783080"/>
            <a:ext cx="640080" cy="640080"/>
          </a:xfrm>
          <a:prstGeom prst="ellipse">
            <a:avLst/>
          </a:prstGeom>
          <a:solidFill>
            <a:schemeClr val="accent1">
              <a:alpha val="18000"/>
            </a:schemeClr>
          </a:solidFill>
          <a:ln/>
        </p:spPr>
      </p:sp>
      <p:pic>
        <p:nvPicPr>
          <p:cNvPr id="5" name="FiLock icon" descr="preencoded.png">    </p:cNvPr>
          <p:cNvPicPr>
            <a:picLocks noChangeAspect="1"/>
          </p:cNvPicPr>
          <p:nvPr/>
        </p:nvPicPr>
        <p:blipFill>
          <a:blip r:embed="rId1"/>
          <a:stretch>
            <a:fillRect/>
          </a:stretch>
        </p:blipFill>
        <p:spPr>
          <a:xfrm>
            <a:off x="1035101" y="1949501"/>
            <a:ext cx="307238" cy="307238"/>
          </a:xfrm>
          <a:prstGeom prst="rect">
            <a:avLst/>
          </a:prstGeom>
        </p:spPr>
      </p:pic>
      <p:sp>
        <p:nvSpPr>
          <p:cNvPr id="6" name="1  ·  Mask"/>
          <p:cNvSpPr txBox="1"/>
          <p:nvPr/>
        </p:nvSpPr>
        <p:spPr>
          <a:xfrm>
            <a:off x="868680" y="2651760"/>
            <a:ext cx="2834640" cy="411480"/>
          </a:xfrm>
          <a:prstGeom prst="rect">
            <a:avLst/>
          </a:prstGeom>
          <a:noFill/>
          <a:ln/>
        </p:spPr>
        <p:txBody>
          <a:bodyPr wrap="square" lIns="0" tIns="0" rIns="0" bIns="0" rtlCol="0" anchor="ctr"/>
          <a:lstStyle/>
          <a:p>
            <a:pPr indent="0" marL="0">
              <a:buNone/>
            </a:pPr>
            <a:r>
              <a:rPr lang="en-US" sz="2000" b="1" dirty="0">
                <a:solidFill>
                  <a:schemeClr val="accent1"/>
                </a:solidFill>
              </a:rPr>
              <a:t>1  ·  Mask</a:t>
            </a:r>
            <a:endParaRPr lang="en-US" sz="2000" dirty="0"/>
          </a:p>
        </p:txBody>
      </p:sp>
      <p:sp>
        <p:nvSpPr>
          <p:cNvPr id="7" name="1  ·  Mask body"/>
          <p:cNvSpPr txBox="1"/>
          <p:nvPr/>
        </p:nvSpPr>
        <p:spPr>
          <a:xfrm>
            <a:off x="868680" y="3090672"/>
            <a:ext cx="2880360" cy="822960"/>
          </a:xfrm>
          <a:prstGeom prst="rect">
            <a:avLst/>
          </a:prstGeom>
          <a:noFill/>
          <a:ln/>
        </p:spPr>
        <p:txBody>
          <a:bodyPr wrap="square" lIns="0" tIns="0" rIns="0" bIns="0" rtlCol="0" anchor="t"/>
          <a:lstStyle/>
          <a:p>
            <a:pPr indent="0" marL="0">
              <a:buNone/>
            </a:pPr>
            <a:r>
              <a:rPr lang="en-US" sz="1500" dirty="0">
                <a:solidFill>
                  <a:schemeClr val="bg2"/>
                </a:solidFill>
              </a:rPr>
              <a:t>The model rewrites the note as everyday chat, using rules both partners share.</a:t>
            </a:r>
            <a:endParaRPr lang="en-US" sz="1500" dirty="0"/>
          </a:p>
        </p:txBody>
      </p:sp>
      <p:pic>
        <p:nvPicPr>
          <p:cNvPr id="8" name="arrow 0" descr="preencoded.png">    </p:cNvPr>
          <p:cNvPicPr>
            <a:picLocks noChangeAspect="1"/>
          </p:cNvPicPr>
          <p:nvPr/>
        </p:nvPicPr>
        <p:blipFill>
          <a:blip r:embed="rId2"/>
          <a:stretch>
            <a:fillRect/>
          </a:stretch>
        </p:blipFill>
        <p:spPr>
          <a:xfrm>
            <a:off x="4041648" y="2606040"/>
            <a:ext cx="292608" cy="292608"/>
          </a:xfrm>
          <a:prstGeom prst="rect">
            <a:avLst/>
          </a:prstGeom>
        </p:spPr>
      </p:pic>
      <p:sp>
        <p:nvSpPr>
          <p:cNvPr id="9" name="2  ·  Send card"/>
          <p:cNvSpPr/>
          <p:nvPr/>
        </p:nvSpPr>
        <p:spPr>
          <a:xfrm>
            <a:off x="4343400" y="1508760"/>
            <a:ext cx="3474720" cy="2514600"/>
          </a:xfrm>
          <a:prstGeom prst="roundRect">
            <a:avLst>
              <a:gd name="adj" fmla="val 5091"/>
            </a:avLst>
          </a:prstGeom>
          <a:solidFill>
            <a:schemeClr val="tx2"/>
          </a:solidFill>
          <a:ln w="12700">
            <a:solidFill>
              <a:schemeClr val="accent6"/>
            </a:solidFill>
            <a:prstDash val="solid"/>
          </a:ln>
        </p:spPr>
      </p:sp>
      <p:sp>
        <p:nvSpPr>
          <p:cNvPr id="10" name="FiMessageCircle circle"/>
          <p:cNvSpPr/>
          <p:nvPr/>
        </p:nvSpPr>
        <p:spPr>
          <a:xfrm>
            <a:off x="4663440" y="1783080"/>
            <a:ext cx="640080" cy="640080"/>
          </a:xfrm>
          <a:prstGeom prst="ellipse">
            <a:avLst/>
          </a:prstGeom>
          <a:solidFill>
            <a:schemeClr val="accent3">
              <a:alpha val="18000"/>
            </a:schemeClr>
          </a:solidFill>
          <a:ln/>
        </p:spPr>
      </p:sp>
      <p:pic>
        <p:nvPicPr>
          <p:cNvPr id="11" name="FiMessageCircle icon" descr="preencoded.png">    </p:cNvPr>
          <p:cNvPicPr>
            <a:picLocks noChangeAspect="1"/>
          </p:cNvPicPr>
          <p:nvPr/>
        </p:nvPicPr>
        <p:blipFill>
          <a:blip r:embed="rId3"/>
          <a:stretch>
            <a:fillRect/>
          </a:stretch>
        </p:blipFill>
        <p:spPr>
          <a:xfrm>
            <a:off x="4829861" y="1949501"/>
            <a:ext cx="307238" cy="307238"/>
          </a:xfrm>
          <a:prstGeom prst="rect">
            <a:avLst/>
          </a:prstGeom>
        </p:spPr>
      </p:pic>
      <p:sp>
        <p:nvSpPr>
          <p:cNvPr id="12" name="2  ·  Send"/>
          <p:cNvSpPr txBox="1"/>
          <p:nvPr/>
        </p:nvSpPr>
        <p:spPr>
          <a:xfrm>
            <a:off x="4663440" y="2651760"/>
            <a:ext cx="2834640" cy="411480"/>
          </a:xfrm>
          <a:prstGeom prst="rect">
            <a:avLst/>
          </a:prstGeom>
          <a:noFill/>
          <a:ln/>
        </p:spPr>
        <p:txBody>
          <a:bodyPr wrap="square" lIns="0" tIns="0" rIns="0" bIns="0" rtlCol="0" anchor="ctr"/>
          <a:lstStyle/>
          <a:p>
            <a:pPr indent="0" marL="0">
              <a:buNone/>
            </a:pPr>
            <a:r>
              <a:rPr lang="en-US" sz="2000" b="1" dirty="0">
                <a:solidFill>
                  <a:schemeClr val="accent3"/>
                </a:solidFill>
              </a:rPr>
              <a:t>2  ·  Send</a:t>
            </a:r>
            <a:endParaRPr lang="en-US" sz="2000" dirty="0"/>
          </a:p>
        </p:txBody>
      </p:sp>
      <p:sp>
        <p:nvSpPr>
          <p:cNvPr id="13" name="2  ·  Send body"/>
          <p:cNvSpPr txBox="1"/>
          <p:nvPr/>
        </p:nvSpPr>
        <p:spPr>
          <a:xfrm>
            <a:off x="4663440" y="3090672"/>
            <a:ext cx="2880360" cy="822960"/>
          </a:xfrm>
          <a:prstGeom prst="rect">
            <a:avLst/>
          </a:prstGeom>
          <a:noFill/>
          <a:ln/>
        </p:spPr>
        <p:txBody>
          <a:bodyPr wrap="square" lIns="0" tIns="0" rIns="0" bIns="0" rtlCol="0" anchor="t"/>
          <a:lstStyle/>
          <a:p>
            <a:pPr indent="0" marL="0">
              <a:buNone/>
            </a:pPr>
            <a:r>
              <a:rPr lang="en-US" sz="1500" dirty="0">
                <a:solidFill>
                  <a:schemeClr val="bg2"/>
                </a:solidFill>
              </a:rPr>
              <a:t>Only the small talk crosses the open channel. Nothing in it trips a keyword filter.</a:t>
            </a:r>
            <a:endParaRPr lang="en-US" sz="1500" dirty="0"/>
          </a:p>
        </p:txBody>
      </p:sp>
      <p:pic>
        <p:nvPicPr>
          <p:cNvPr id="14" name="arrow 1" descr="preencoded.png">    </p:cNvPr>
          <p:cNvPicPr>
            <a:picLocks noChangeAspect="1"/>
          </p:cNvPicPr>
          <p:nvPr/>
        </p:nvPicPr>
        <p:blipFill>
          <a:blip r:embed="rId4"/>
          <a:stretch>
            <a:fillRect/>
          </a:stretch>
        </p:blipFill>
        <p:spPr>
          <a:xfrm>
            <a:off x="7836408" y="2606040"/>
            <a:ext cx="292608" cy="292608"/>
          </a:xfrm>
          <a:prstGeom prst="rect">
            <a:avLst/>
          </a:prstGeom>
        </p:spPr>
      </p:pic>
      <p:sp>
        <p:nvSpPr>
          <p:cNvPr id="15" name="3  ·  Unmask card"/>
          <p:cNvSpPr/>
          <p:nvPr/>
        </p:nvSpPr>
        <p:spPr>
          <a:xfrm>
            <a:off x="8138160" y="1508760"/>
            <a:ext cx="3474720" cy="2514600"/>
          </a:xfrm>
          <a:prstGeom prst="roundRect">
            <a:avLst>
              <a:gd name="adj" fmla="val 5091"/>
            </a:avLst>
          </a:prstGeom>
          <a:solidFill>
            <a:schemeClr val="tx2"/>
          </a:solidFill>
          <a:ln w="12700">
            <a:solidFill>
              <a:schemeClr val="accent6"/>
            </a:solidFill>
            <a:prstDash val="solid"/>
          </a:ln>
        </p:spPr>
      </p:sp>
      <p:sp>
        <p:nvSpPr>
          <p:cNvPr id="16" name="FiUnlock circle"/>
          <p:cNvSpPr/>
          <p:nvPr/>
        </p:nvSpPr>
        <p:spPr>
          <a:xfrm>
            <a:off x="8458200" y="1783080"/>
            <a:ext cx="640080" cy="640080"/>
          </a:xfrm>
          <a:prstGeom prst="ellipse">
            <a:avLst/>
          </a:prstGeom>
          <a:solidFill>
            <a:schemeClr val="accent2">
              <a:alpha val="18000"/>
            </a:schemeClr>
          </a:solidFill>
          <a:ln/>
        </p:spPr>
      </p:sp>
      <p:pic>
        <p:nvPicPr>
          <p:cNvPr id="17" name="FiUnlock icon" descr="preencoded.png">    </p:cNvPr>
          <p:cNvPicPr>
            <a:picLocks noChangeAspect="1"/>
          </p:cNvPicPr>
          <p:nvPr/>
        </p:nvPicPr>
        <p:blipFill>
          <a:blip r:embed="rId5"/>
          <a:stretch>
            <a:fillRect/>
          </a:stretch>
        </p:blipFill>
        <p:spPr>
          <a:xfrm>
            <a:off x="8624621" y="1949501"/>
            <a:ext cx="307238" cy="307238"/>
          </a:xfrm>
          <a:prstGeom prst="rect">
            <a:avLst/>
          </a:prstGeom>
        </p:spPr>
      </p:pic>
      <p:sp>
        <p:nvSpPr>
          <p:cNvPr id="18" name="3  ·  Unmask"/>
          <p:cNvSpPr txBox="1"/>
          <p:nvPr/>
        </p:nvSpPr>
        <p:spPr>
          <a:xfrm>
            <a:off x="8458200" y="2651760"/>
            <a:ext cx="2834640" cy="411480"/>
          </a:xfrm>
          <a:prstGeom prst="rect">
            <a:avLst/>
          </a:prstGeom>
          <a:noFill/>
          <a:ln/>
        </p:spPr>
        <p:txBody>
          <a:bodyPr wrap="square" lIns="0" tIns="0" rIns="0" bIns="0" rtlCol="0" anchor="ctr"/>
          <a:lstStyle/>
          <a:p>
            <a:pPr indent="0" marL="0">
              <a:buNone/>
            </a:pPr>
            <a:r>
              <a:rPr lang="en-US" sz="2000" b="1" dirty="0">
                <a:solidFill>
                  <a:schemeClr val="accent2"/>
                </a:solidFill>
              </a:rPr>
              <a:t>3  ·  Unmask</a:t>
            </a:r>
            <a:endParaRPr lang="en-US" sz="2000" dirty="0"/>
          </a:p>
        </p:txBody>
      </p:sp>
      <p:sp>
        <p:nvSpPr>
          <p:cNvPr id="19" name="3  ·  Unmask body"/>
          <p:cNvSpPr txBox="1"/>
          <p:nvPr/>
        </p:nvSpPr>
        <p:spPr>
          <a:xfrm>
            <a:off x="8458200" y="3090672"/>
            <a:ext cx="2880360" cy="822960"/>
          </a:xfrm>
          <a:prstGeom prst="rect">
            <a:avLst/>
          </a:prstGeom>
          <a:noFill/>
          <a:ln/>
        </p:spPr>
        <p:txBody>
          <a:bodyPr wrap="square" lIns="0" tIns="0" rIns="0" bIns="0" rtlCol="0" anchor="t"/>
          <a:lstStyle/>
          <a:p>
            <a:pPr indent="0" marL="0">
              <a:buNone/>
            </a:pPr>
            <a:r>
              <a:rPr lang="en-US" sz="1500" dirty="0">
                <a:solidFill>
                  <a:schemeClr val="bg2"/>
                </a:solidFill>
              </a:rPr>
              <a:t>The partner runs the same rules in reverse and recovers the note.</a:t>
            </a:r>
            <a:endParaRPr lang="en-US" sz="1500" dirty="0"/>
          </a:p>
        </p:txBody>
      </p:sp>
      <p:sp>
        <p:nvSpPr>
          <p:cNvPr id="20" name="MVP brief panel"/>
          <p:cNvSpPr/>
          <p:nvPr/>
        </p:nvSpPr>
        <p:spPr>
          <a:xfrm>
            <a:off x="548640" y="4343400"/>
            <a:ext cx="11064240" cy="1645920"/>
          </a:xfrm>
          <a:prstGeom prst="roundRect">
            <a:avLst>
              <a:gd name="adj" fmla="val 7778"/>
            </a:avLst>
          </a:prstGeom>
          <a:solidFill>
            <a:schemeClr val="tx1"/>
          </a:solidFill>
          <a:ln w="12700">
            <a:solidFill>
              <a:schemeClr val="accent6"/>
            </a:solidFill>
            <a:prstDash val="solid"/>
          </a:ln>
        </p:spPr>
      </p:sp>
      <p:sp>
        <p:nvSpPr>
          <p:cNvPr id="21" name="brief label"/>
          <p:cNvSpPr txBox="1"/>
          <p:nvPr/>
        </p:nvSpPr>
        <p:spPr>
          <a:xfrm>
            <a:off x="868680" y="4526280"/>
            <a:ext cx="3657600" cy="274320"/>
          </a:xfrm>
          <a:prstGeom prst="rect">
            <a:avLst/>
          </a:prstGeom>
          <a:noFill/>
          <a:ln/>
        </p:spPr>
        <p:txBody>
          <a:bodyPr wrap="square" lIns="0" tIns="0" rIns="0" bIns="0" rtlCol="0" anchor="ctr"/>
          <a:lstStyle/>
          <a:p>
            <a:pPr indent="0" marL="0">
              <a:buNone/>
            </a:pPr>
            <a:r>
              <a:rPr lang="en-US" sz="1100" b="1" spc="100" kern="0" dirty="0">
                <a:solidFill>
                  <a:schemeClr val="accent5"/>
                </a:solidFill>
              </a:rPr>
              <a:t>THE MVP BRIEF</a:t>
            </a:r>
            <a:endParaRPr lang="en-US" sz="1100" dirty="0"/>
          </a:p>
        </p:txBody>
      </p:sp>
      <p:sp>
        <p:nvSpPr>
          <p:cNvPr id="22" name="brief quote"/>
          <p:cNvSpPr txBox="1"/>
          <p:nvPr/>
        </p:nvSpPr>
        <p:spPr>
          <a:xfrm>
            <a:off x="868680" y="4846320"/>
            <a:ext cx="7315200" cy="960120"/>
          </a:xfrm>
          <a:prstGeom prst="rect">
            <a:avLst/>
          </a:prstGeom>
          <a:noFill/>
          <a:ln/>
        </p:spPr>
        <p:txBody>
          <a:bodyPr wrap="square" lIns="0" tIns="0" rIns="0" bIns="0" rtlCol="0" anchor="t"/>
          <a:lstStyle/>
          <a:p>
            <a:pPr indent="0" marL="0">
              <a:buNone/>
            </a:pPr>
            <a:r>
              <a:rPr lang="en-US" sz="1600" i="1" dirty="0">
                <a:solidFill>
                  <a:schemeClr val="bg2"/>
                </a:solidFill>
              </a:rPr>
              <a:t>“Type in a string → a benign surface message with no actionable or suspicious wording → a decoder regenerates the original, or close enough to be usable.”</a:t>
            </a:r>
            <a:endParaRPr lang="en-US" sz="1600" dirty="0"/>
          </a:p>
        </p:txBody>
      </p:sp>
      <p:sp>
        <p:nvSpPr>
          <p:cNvPr id="23" name="met chip"/>
          <p:cNvSpPr/>
          <p:nvPr/>
        </p:nvSpPr>
        <p:spPr>
          <a:xfrm>
            <a:off x="8641080" y="4892040"/>
            <a:ext cx="2651760" cy="292608"/>
          </a:xfrm>
          <a:prstGeom prst="roundRect">
            <a:avLst>
              <a:gd name="adj" fmla="val 50000"/>
            </a:avLst>
          </a:prstGeom>
          <a:solidFill>
            <a:schemeClr val="accent2">
              <a:alpha val="15000"/>
            </a:schemeClr>
          </a:solidFill>
          <a:ln w="9525">
            <a:solidFill>
              <a:schemeClr val="accent2"/>
            </a:solidFill>
            <a:prstDash val="solid"/>
          </a:ln>
        </p:spPr>
      </p:sp>
      <p:sp>
        <p:nvSpPr>
          <p:cNvPr id="24" name="met chip label"/>
          <p:cNvSpPr txBox="1"/>
          <p:nvPr/>
        </p:nvSpPr>
        <p:spPr>
          <a:xfrm>
            <a:off x="8641080" y="4892040"/>
            <a:ext cx="2651760" cy="292608"/>
          </a:xfrm>
          <a:prstGeom prst="rect">
            <a:avLst/>
          </a:prstGeom>
          <a:noFill/>
          <a:ln/>
        </p:spPr>
        <p:txBody>
          <a:bodyPr wrap="square" lIns="0" tIns="0" rIns="0" bIns="0" rtlCol="0" anchor="ctr"/>
          <a:lstStyle/>
          <a:p>
            <a:pPr algn="ctr" indent="0" marL="0">
              <a:buNone/>
            </a:pPr>
            <a:r>
              <a:rPr lang="en-US" sz="1100" b="1" dirty="0">
                <a:solidFill>
                  <a:schemeClr val="accent2"/>
                </a:solidFill>
              </a:rPr>
              <a:t>MET  ·  100% ON TEST CASES</a:t>
            </a:r>
            <a:endParaRPr lang="en-US" sz="1100" dirty="0"/>
          </a:p>
        </p:txBody>
      </p:sp>
      <p:sp>
        <p:nvSpPr>
          <p:cNvPr id="25" name="met detail"/>
          <p:cNvSpPr txBox="1"/>
          <p:nvPr/>
        </p:nvSpPr>
        <p:spPr>
          <a:xfrm>
            <a:off x="8641080" y="5285232"/>
            <a:ext cx="2697480" cy="548640"/>
          </a:xfrm>
          <a:prstGeom prst="rect">
            <a:avLst/>
          </a:prstGeom>
          <a:noFill/>
          <a:ln/>
        </p:spPr>
        <p:txBody>
          <a:bodyPr wrap="square" lIns="0" tIns="0" rIns="0" bIns="0" rtlCol="0" anchor="ctr"/>
          <a:lstStyle/>
          <a:p>
            <a:pPr indent="0" marL="0">
              <a:buNone/>
            </a:pPr>
            <a:r>
              <a:rPr lang="en-US" sz="1300" dirty="0">
                <a:solidFill>
                  <a:schemeClr val="accent5"/>
                </a:solidFill>
              </a:rPr>
              <a:t>Every cover passes the keyword check.</a:t>
            </a:r>
            <a:endParaRPr lang="en-US" sz="13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7AE"/>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bg2"/>
                </a:solidFill>
              </a:rPr>
              <a:t>One prompt runs the code in both directions</a:t>
            </a:r>
            <a:endParaRPr lang="en-US" sz="3200" dirty="0"/>
          </a:p>
        </p:txBody>
      </p:sp>
      <p:sp>
        <p:nvSpPr>
          <p:cNvPr id="3" name="FiRepeat circle"/>
          <p:cNvSpPr/>
          <p:nvPr/>
        </p:nvSpPr>
        <p:spPr>
          <a:xfrm>
            <a:off x="548640" y="1508760"/>
            <a:ext cx="566928" cy="566928"/>
          </a:xfrm>
          <a:prstGeom prst="ellipse">
            <a:avLst/>
          </a:prstGeom>
          <a:solidFill>
            <a:schemeClr val="accent1">
              <a:alpha val="18000"/>
            </a:schemeClr>
          </a:solidFill>
          <a:ln/>
        </p:spPr>
      </p:sp>
      <p:pic>
        <p:nvPicPr>
          <p:cNvPr id="4" name="FiRepeat icon" descr="preencoded.png">    </p:cNvPr>
          <p:cNvPicPr>
            <a:picLocks noChangeAspect="1"/>
          </p:cNvPicPr>
          <p:nvPr/>
        </p:nvPicPr>
        <p:blipFill>
          <a:blip r:embed="rId1"/>
          <a:stretch>
            <a:fillRect/>
          </a:stretch>
        </p:blipFill>
        <p:spPr>
          <a:xfrm>
            <a:off x="696041" y="1656161"/>
            <a:ext cx="272125" cy="272125"/>
          </a:xfrm>
          <a:prstGeom prst="rect">
            <a:avLst/>
          </a:prstGeom>
        </p:spPr>
      </p:pic>
      <p:sp>
        <p:nvSpPr>
          <p:cNvPr id="5" name="Codebook swaps header"/>
          <p:cNvSpPr txBox="1"/>
          <p:nvPr/>
        </p:nvSpPr>
        <p:spPr>
          <a:xfrm>
            <a:off x="1325880" y="1490472"/>
            <a:ext cx="4343400" cy="329184"/>
          </a:xfrm>
          <a:prstGeom prst="rect">
            <a:avLst/>
          </a:prstGeom>
          <a:noFill/>
          <a:ln/>
        </p:spPr>
        <p:txBody>
          <a:bodyPr wrap="square" lIns="0" tIns="0" rIns="0" bIns="0" rtlCol="0" anchor="ctr"/>
          <a:lstStyle/>
          <a:p>
            <a:pPr indent="0" marL="0">
              <a:buNone/>
            </a:pPr>
            <a:r>
              <a:rPr lang="en-US" sz="1800" b="1" dirty="0">
                <a:solidFill>
                  <a:schemeClr val="bg2"/>
                </a:solidFill>
              </a:rPr>
              <a:t>Codebook swaps</a:t>
            </a:r>
            <a:endParaRPr lang="en-US" sz="1800" dirty="0"/>
          </a:p>
        </p:txBody>
      </p:sp>
      <p:sp>
        <p:nvSpPr>
          <p:cNvPr id="6" name="Codebook swaps body"/>
          <p:cNvSpPr txBox="1"/>
          <p:nvPr/>
        </p:nvSpPr>
        <p:spPr>
          <a:xfrm>
            <a:off x="1325880" y="1837944"/>
            <a:ext cx="4343400" cy="548640"/>
          </a:xfrm>
          <a:prstGeom prst="rect">
            <a:avLst/>
          </a:prstGeom>
          <a:noFill/>
          <a:ln/>
        </p:spPr>
        <p:txBody>
          <a:bodyPr wrap="square" lIns="0" tIns="0" rIns="0" bIns="0" rtlCol="0" anchor="t"/>
          <a:lstStyle/>
          <a:p>
            <a:pPr indent="0" marL="0">
              <a:buNone/>
            </a:pPr>
            <a:r>
              <a:rPr lang="en-US" sz="1500" dirty="0">
                <a:solidFill>
                  <a:schemeClr val="accent5"/>
                </a:solidFill>
              </a:rPr>
              <a:t>Topic words trade places: library ↔ bakery, lecture notes ↔ playlist.</a:t>
            </a:r>
            <a:endParaRPr lang="en-US" sz="1500" dirty="0"/>
          </a:p>
        </p:txBody>
      </p:sp>
      <p:sp>
        <p:nvSpPr>
          <p:cNvPr id="7" name="FiClock circle"/>
          <p:cNvSpPr/>
          <p:nvPr/>
        </p:nvSpPr>
        <p:spPr>
          <a:xfrm>
            <a:off x="548640" y="2606040"/>
            <a:ext cx="566928" cy="566928"/>
          </a:xfrm>
          <a:prstGeom prst="ellipse">
            <a:avLst/>
          </a:prstGeom>
          <a:solidFill>
            <a:schemeClr val="accent1">
              <a:alpha val="18000"/>
            </a:schemeClr>
          </a:solidFill>
          <a:ln/>
        </p:spPr>
      </p:sp>
      <p:pic>
        <p:nvPicPr>
          <p:cNvPr id="8" name="FiClock icon" descr="preencoded.png">    </p:cNvPr>
          <p:cNvPicPr>
            <a:picLocks noChangeAspect="1"/>
          </p:cNvPicPr>
          <p:nvPr/>
        </p:nvPicPr>
        <p:blipFill>
          <a:blip r:embed="rId2"/>
          <a:stretch>
            <a:fillRect/>
          </a:stretch>
        </p:blipFill>
        <p:spPr>
          <a:xfrm>
            <a:off x="696041" y="2753441"/>
            <a:ext cx="272125" cy="272125"/>
          </a:xfrm>
          <a:prstGeom prst="rect">
            <a:avLst/>
          </a:prstGeom>
        </p:spPr>
      </p:pic>
      <p:sp>
        <p:nvSpPr>
          <p:cNvPr id="9" name="Times header"/>
          <p:cNvSpPr txBox="1"/>
          <p:nvPr/>
        </p:nvSpPr>
        <p:spPr>
          <a:xfrm>
            <a:off x="1325880" y="2587752"/>
            <a:ext cx="4343400" cy="329184"/>
          </a:xfrm>
          <a:prstGeom prst="rect">
            <a:avLst/>
          </a:prstGeom>
          <a:noFill/>
          <a:ln/>
        </p:spPr>
        <p:txBody>
          <a:bodyPr wrap="square" lIns="0" tIns="0" rIns="0" bIns="0" rtlCol="0" anchor="ctr"/>
          <a:lstStyle/>
          <a:p>
            <a:pPr indent="0" marL="0">
              <a:buNone/>
            </a:pPr>
            <a:r>
              <a:rPr lang="en-US" sz="1800" b="1" dirty="0">
                <a:solidFill>
                  <a:schemeClr val="bg2"/>
                </a:solidFill>
              </a:rPr>
              <a:t>Times</a:t>
            </a:r>
            <a:endParaRPr lang="en-US" sz="1800" dirty="0"/>
          </a:p>
        </p:txBody>
      </p:sp>
      <p:sp>
        <p:nvSpPr>
          <p:cNvPr id="10" name="Times body"/>
          <p:cNvSpPr txBox="1"/>
          <p:nvPr/>
        </p:nvSpPr>
        <p:spPr>
          <a:xfrm>
            <a:off x="1325880" y="2935224"/>
            <a:ext cx="4343400" cy="548640"/>
          </a:xfrm>
          <a:prstGeom prst="rect">
            <a:avLst/>
          </a:prstGeom>
          <a:noFill/>
          <a:ln/>
        </p:spPr>
        <p:txBody>
          <a:bodyPr wrap="square" lIns="0" tIns="0" rIns="0" bIns="0" rtlCol="0" anchor="t"/>
          <a:lstStyle/>
          <a:p>
            <a:pPr indent="0" marL="0">
              <a:buNone/>
            </a:pPr>
            <a:r>
              <a:rPr lang="en-US" sz="1500" dirty="0">
                <a:solidFill>
                  <a:schemeClr val="accent5"/>
                </a:solidFill>
              </a:rPr>
              <a:t>24-hour in the note, 12-hour in chat: 1930 ↔ 7:30pm.</a:t>
            </a:r>
            <a:endParaRPr lang="en-US" sz="1500" dirty="0"/>
          </a:p>
        </p:txBody>
      </p:sp>
      <p:sp>
        <p:nvSpPr>
          <p:cNvPr id="11" name="FiMapPin circle"/>
          <p:cNvSpPr/>
          <p:nvPr/>
        </p:nvSpPr>
        <p:spPr>
          <a:xfrm>
            <a:off x="548640" y="3703320"/>
            <a:ext cx="566928" cy="566928"/>
          </a:xfrm>
          <a:prstGeom prst="ellipse">
            <a:avLst/>
          </a:prstGeom>
          <a:solidFill>
            <a:schemeClr val="accent1">
              <a:alpha val="18000"/>
            </a:schemeClr>
          </a:solidFill>
          <a:ln/>
        </p:spPr>
      </p:sp>
      <p:pic>
        <p:nvPicPr>
          <p:cNvPr id="12" name="FiMapPin icon" descr="preencoded.png">    </p:cNvPr>
          <p:cNvPicPr>
            <a:picLocks noChangeAspect="1"/>
          </p:cNvPicPr>
          <p:nvPr/>
        </p:nvPicPr>
        <p:blipFill>
          <a:blip r:embed="rId3"/>
          <a:stretch>
            <a:fillRect/>
          </a:stretch>
        </p:blipFill>
        <p:spPr>
          <a:xfrm>
            <a:off x="696041" y="3850721"/>
            <a:ext cx="272125" cy="272125"/>
          </a:xfrm>
          <a:prstGeom prst="rect">
            <a:avLst/>
          </a:prstGeom>
        </p:spPr>
      </p:pic>
      <p:sp>
        <p:nvSpPr>
          <p:cNvPr id="13" name="Coordinates header"/>
          <p:cNvSpPr txBox="1"/>
          <p:nvPr/>
        </p:nvSpPr>
        <p:spPr>
          <a:xfrm>
            <a:off x="1325880" y="3685032"/>
            <a:ext cx="4343400" cy="329184"/>
          </a:xfrm>
          <a:prstGeom prst="rect">
            <a:avLst/>
          </a:prstGeom>
          <a:noFill/>
          <a:ln/>
        </p:spPr>
        <p:txBody>
          <a:bodyPr wrap="square" lIns="0" tIns="0" rIns="0" bIns="0" rtlCol="0" anchor="ctr"/>
          <a:lstStyle/>
          <a:p>
            <a:pPr indent="0" marL="0">
              <a:buNone/>
            </a:pPr>
            <a:r>
              <a:rPr lang="en-US" sz="1800" b="1" dirty="0">
                <a:solidFill>
                  <a:schemeClr val="bg2"/>
                </a:solidFill>
              </a:rPr>
              <a:t>Coordinates</a:t>
            </a:r>
            <a:endParaRPr lang="en-US" sz="1800" dirty="0"/>
          </a:p>
        </p:txBody>
      </p:sp>
      <p:sp>
        <p:nvSpPr>
          <p:cNvPr id="14" name="Coordinates body"/>
          <p:cNvSpPr txBox="1"/>
          <p:nvPr/>
        </p:nvSpPr>
        <p:spPr>
          <a:xfrm>
            <a:off x="1325880" y="4032504"/>
            <a:ext cx="4343400" cy="548640"/>
          </a:xfrm>
          <a:prstGeom prst="rect">
            <a:avLst/>
          </a:prstGeom>
          <a:noFill/>
          <a:ln/>
        </p:spPr>
        <p:txBody>
          <a:bodyPr wrap="square" lIns="0" tIns="0" rIns="0" bIns="0" rtlCol="0" anchor="t"/>
          <a:lstStyle/>
          <a:p>
            <a:pPr indent="0" marL="0">
              <a:buNone/>
            </a:pPr>
            <a:r>
              <a:rPr lang="en-US" sz="1500" dirty="0">
                <a:solidFill>
                  <a:schemeClr val="accent5"/>
                </a:solidFill>
              </a:rPr>
              <a:t>41.7056 N ↔ “gift code 41-7056N”.</a:t>
            </a:r>
            <a:endParaRPr lang="en-US" sz="1500" dirty="0"/>
          </a:p>
        </p:txBody>
      </p:sp>
      <p:sp>
        <p:nvSpPr>
          <p:cNvPr id="15" name="FiUser circle"/>
          <p:cNvSpPr/>
          <p:nvPr/>
        </p:nvSpPr>
        <p:spPr>
          <a:xfrm>
            <a:off x="548640" y="4800600"/>
            <a:ext cx="566928" cy="566928"/>
          </a:xfrm>
          <a:prstGeom prst="ellipse">
            <a:avLst/>
          </a:prstGeom>
          <a:solidFill>
            <a:schemeClr val="accent1">
              <a:alpha val="18000"/>
            </a:schemeClr>
          </a:solidFill>
          <a:ln/>
        </p:spPr>
      </p:sp>
      <p:pic>
        <p:nvPicPr>
          <p:cNvPr id="16" name="FiUser icon" descr="preencoded.png">    </p:cNvPr>
          <p:cNvPicPr>
            <a:picLocks noChangeAspect="1"/>
          </p:cNvPicPr>
          <p:nvPr/>
        </p:nvPicPr>
        <p:blipFill>
          <a:blip r:embed="rId4"/>
          <a:stretch>
            <a:fillRect/>
          </a:stretch>
        </p:blipFill>
        <p:spPr>
          <a:xfrm>
            <a:off x="696041" y="4948001"/>
            <a:ext cx="272125" cy="272125"/>
          </a:xfrm>
          <a:prstGeom prst="rect">
            <a:avLst/>
          </a:prstGeom>
        </p:spPr>
      </p:pic>
      <p:sp>
        <p:nvSpPr>
          <p:cNvPr id="17" name="Names, days, numbered places header"/>
          <p:cNvSpPr txBox="1"/>
          <p:nvPr/>
        </p:nvSpPr>
        <p:spPr>
          <a:xfrm>
            <a:off x="1325880" y="4782312"/>
            <a:ext cx="4343400" cy="329184"/>
          </a:xfrm>
          <a:prstGeom prst="rect">
            <a:avLst/>
          </a:prstGeom>
          <a:noFill/>
          <a:ln/>
        </p:spPr>
        <p:txBody>
          <a:bodyPr wrap="square" lIns="0" tIns="0" rIns="0" bIns="0" rtlCol="0" anchor="ctr"/>
          <a:lstStyle/>
          <a:p>
            <a:pPr indent="0" marL="0">
              <a:buNone/>
            </a:pPr>
            <a:r>
              <a:rPr lang="en-US" sz="1800" b="1" dirty="0">
                <a:solidFill>
                  <a:schemeClr val="bg2"/>
                </a:solidFill>
              </a:rPr>
              <a:t>Names, days, numbered places</a:t>
            </a:r>
            <a:endParaRPr lang="en-US" sz="1800" dirty="0"/>
          </a:p>
        </p:txBody>
      </p:sp>
      <p:sp>
        <p:nvSpPr>
          <p:cNvPr id="18" name="Names, days, numbered places body"/>
          <p:cNvSpPr txBox="1"/>
          <p:nvPr/>
        </p:nvSpPr>
        <p:spPr>
          <a:xfrm>
            <a:off x="1325880" y="5129784"/>
            <a:ext cx="4343400" cy="548640"/>
          </a:xfrm>
          <a:prstGeom prst="rect">
            <a:avLst/>
          </a:prstGeom>
          <a:noFill/>
          <a:ln/>
        </p:spPr>
        <p:txBody>
          <a:bodyPr wrap="square" lIns="0" tIns="0" rIns="0" bIns="0" rtlCol="0" anchor="t"/>
          <a:lstStyle/>
          <a:p>
            <a:pPr indent="0" marL="0">
              <a:buNone/>
            </a:pPr>
            <a:r>
              <a:rPr lang="en-US" sz="1500" dirty="0">
                <a:solidFill>
                  <a:schemeClr val="accent5"/>
                </a:solidFill>
              </a:rPr>
              <a:t>Copied exactly, both ways.</a:t>
            </a:r>
            <a:endParaRPr lang="en-US" sz="1500" dirty="0"/>
          </a:p>
        </p:txBody>
      </p:sp>
      <p:sp>
        <p:nvSpPr>
          <p:cNvPr id="19" name="prompt example panel"/>
          <p:cNvSpPr/>
          <p:nvPr/>
        </p:nvSpPr>
        <p:spPr>
          <a:xfrm>
            <a:off x="6035040" y="1508760"/>
            <a:ext cx="5605272" cy="4206240"/>
          </a:xfrm>
          <a:prstGeom prst="roundRect">
            <a:avLst>
              <a:gd name="adj" fmla="val 3043"/>
            </a:avLst>
          </a:prstGeom>
          <a:solidFill>
            <a:schemeClr val="tx1"/>
          </a:solidFill>
          <a:ln w="12700">
            <a:solidFill>
              <a:schemeClr val="accent6"/>
            </a:solidFill>
            <a:prstDash val="solid"/>
          </a:ln>
        </p:spPr>
      </p:sp>
      <p:sp>
        <p:nvSpPr>
          <p:cNvPr id="20" name="prompt example"/>
          <p:cNvSpPr txBox="1"/>
          <p:nvPr/>
        </p:nvSpPr>
        <p:spPr>
          <a:xfrm>
            <a:off x="6309360" y="1737360"/>
            <a:ext cx="5074920" cy="3749040"/>
          </a:xfrm>
          <a:prstGeom prst="rect">
            <a:avLst/>
          </a:prstGeom>
          <a:noFill/>
          <a:ln/>
        </p:spPr>
        <p:txBody>
          <a:bodyPr wrap="square" lIns="0" tIns="0" rIns="0" bIns="0" rtlCol="0" anchor="t"/>
          <a:lstStyle/>
          <a:p>
            <a:pPr indent="0" marL="0">
              <a:spcAft>
                <a:spcPts val="400"/>
              </a:spcAft>
              <a:buNone/>
            </a:pPr>
            <a:r>
              <a:rPr lang="en-US" sz="1400" b="1" dirty="0">
                <a:solidFill>
                  <a:schemeClr val="accent1"/>
                </a:solidFill>
                <a:latin typeface="Courier New" pitchFamily="34" charset="0"/>
                <a:ea typeface="Courier New" pitchFamily="34" charset="-122"/>
                <a:cs typeface="Courier New" pitchFamily="34" charset="-120"/>
              </a:rPr>
              <a:t>MODE: MASK</a:t>
            </a:r>
            <a:endParaRPr lang="en-US" sz="1400" dirty="0"/>
          </a:p>
          <a:p>
            <a:pPr indent="0" marL="0">
              <a:spcAft>
                <a:spcPts val="400"/>
              </a:spcAft>
              <a:buNone/>
            </a:pPr>
            <a:r>
              <a:rPr lang="en-US" sz="1400" dirty="0">
                <a:solidFill>
                  <a:schemeClr val="accent5"/>
                </a:solidFill>
                <a:latin typeface="Courier New" pitchFamily="34" charset="0"/>
                <a:ea typeface="Courier New" pitchFamily="34" charset="-122"/>
                <a:cs typeface="Courier New" pitchFamily="34" charset="-120"/>
              </a:rPr>
              <a:t>NOTE: Study group meets at the east library entrance. Be there at 1930 on Thursday. Bring the lecture notes.</a:t>
            </a:r>
            <a:endParaRPr lang="en-US" sz="1400" dirty="0"/>
          </a:p>
          <a:p>
            <a:pPr indent="0" marL="0">
              <a:spcAft>
                <a:spcPts val="400"/>
              </a:spcAft>
              <a:buNone/>
            </a:pPr>
            <a:r>
              <a:rPr lang="en-US" sz="1400" dirty="0">
                <a:solidFill>
                  <a:schemeClr val="bg1"/>
                </a:solidFill>
                <a:latin typeface="Courier New" pitchFamily="34" charset="0"/>
                <a:ea typeface="Courier New" pitchFamily="34" charset="-122"/>
                <a:cs typeface="Courier New" pitchFamily="34" charset="-120"/>
              </a:rPr>
              <a:t>→ Game night at the east bakery entrance. Be there at 7:30pm on Thursday. Bring the playlist.</a:t>
            </a:r>
            <a:endParaRPr lang="en-US" sz="1400" dirty="0"/>
          </a:p>
          <a:p>
            <a:pPr indent="0" marL="0">
              <a:spcAft>
                <a:spcPts val="400"/>
              </a:spcAft>
              <a:buNone/>
            </a:pPr>
            <a:r>
              <a:rPr lang="en-US" sz="1400" dirty="0">
                <a:solidFill>
                  <a:srgbClr val="000000"/>
                </a:solidFill>
                <a:latin typeface="Courier New" pitchFamily="34" charset="0"/>
                <a:ea typeface="Courier New" pitchFamily="34" charset="-122"/>
                <a:cs typeface="Courier New" pitchFamily="34" charset="-120"/>
              </a:rPr>
              <a:t> </a:t>
            </a:r>
            <a:endParaRPr lang="en-US" sz="1400" dirty="0"/>
          </a:p>
          <a:p>
            <a:pPr indent="0" marL="0">
              <a:spcAft>
                <a:spcPts val="400"/>
              </a:spcAft>
              <a:buNone/>
            </a:pPr>
            <a:r>
              <a:rPr lang="en-US" sz="1400" b="1" dirty="0">
                <a:solidFill>
                  <a:schemeClr val="accent2"/>
                </a:solidFill>
                <a:latin typeface="Courier New" pitchFamily="34" charset="0"/>
                <a:ea typeface="Courier New" pitchFamily="34" charset="-122"/>
                <a:cs typeface="Courier New" pitchFamily="34" charset="-120"/>
              </a:rPr>
              <a:t>MODE: UNMASK</a:t>
            </a:r>
            <a:endParaRPr lang="en-US" sz="1400" dirty="0"/>
          </a:p>
          <a:p>
            <a:pPr indent="0" marL="0">
              <a:spcAft>
                <a:spcPts val="400"/>
              </a:spcAft>
              <a:buNone/>
            </a:pPr>
            <a:r>
              <a:rPr lang="en-US" sz="1400" dirty="0">
                <a:solidFill>
                  <a:schemeClr val="accent5"/>
                </a:solidFill>
                <a:latin typeface="Courier New" pitchFamily="34" charset="0"/>
                <a:ea typeface="Courier New" pitchFamily="34" charset="-122"/>
                <a:cs typeface="Courier New" pitchFamily="34" charset="-120"/>
              </a:rPr>
              <a:t>MESSAGE: Game night at the east bakery entrance. Be there at 7:30pm on Thursday. Bring the playlist.</a:t>
            </a:r>
            <a:endParaRPr lang="en-US" sz="1400" dirty="0"/>
          </a:p>
          <a:p>
            <a:pPr indent="0" marL="0">
              <a:spcAft>
                <a:spcPts val="400"/>
              </a:spcAft>
              <a:buNone/>
            </a:pPr>
            <a:r>
              <a:rPr lang="en-US" sz="1400" dirty="0">
                <a:solidFill>
                  <a:schemeClr val="bg1"/>
                </a:solidFill>
                <a:latin typeface="Courier New" pitchFamily="34" charset="0"/>
                <a:ea typeface="Courier New" pitchFamily="34" charset="-122"/>
                <a:cs typeface="Courier New" pitchFamily="34" charset="-120"/>
              </a:rPr>
              <a:t>→ Study group at the east library entrance. Be there at 1930 on Thursday. Bring the lecture notes.</a:t>
            </a:r>
            <a:endParaRPr lang="en-US" sz="1400" dirty="0"/>
          </a:p>
        </p:txBody>
      </p:sp>
      <p:sp>
        <p:nvSpPr>
          <p:cNvPr id="21" name="prompt caption"/>
          <p:cNvSpPr txBox="1"/>
          <p:nvPr/>
        </p:nvSpPr>
        <p:spPr>
          <a:xfrm>
            <a:off x="6035040" y="5806440"/>
            <a:ext cx="5605272" cy="320040"/>
          </a:xfrm>
          <a:prstGeom prst="rect">
            <a:avLst/>
          </a:prstGeom>
          <a:noFill/>
          <a:ln/>
        </p:spPr>
        <p:txBody>
          <a:bodyPr wrap="square" lIns="0" tIns="0" rIns="0" bIns="0" rtlCol="0" anchor="ctr"/>
          <a:lstStyle/>
          <a:p>
            <a:pPr indent="0" marL="0">
              <a:buNone/>
            </a:pPr>
            <a:r>
              <a:rPr lang="en-US" sz="1200" dirty="0">
                <a:solidFill>
                  <a:schemeClr val="accent5"/>
                </a:solidFill>
              </a:rPr>
              <a:t>Same system prompt both ways; only the MODE line changes. Real qwen2.5:7b output.</a:t>
            </a:r>
            <a:endParaRPr lang="en-US" sz="12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7AE"/>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bg2"/>
                </a:solidFill>
              </a:rPr>
              <a:t>Live demo: one message, three views</a:t>
            </a:r>
            <a:endParaRPr lang="en-US" sz="3200" dirty="0"/>
          </a:p>
        </p:txBody>
      </p:sp>
      <p:sp>
        <p:nvSpPr>
          <p:cNvPr id="3" name="Sender pane"/>
          <p:cNvSpPr/>
          <p:nvPr/>
        </p:nvSpPr>
        <p:spPr>
          <a:xfrm>
            <a:off x="548640" y="1417320"/>
            <a:ext cx="3474720" cy="4617720"/>
          </a:xfrm>
          <a:prstGeom prst="roundRect">
            <a:avLst>
              <a:gd name="adj" fmla="val 3684"/>
            </a:avLst>
          </a:prstGeom>
          <a:solidFill>
            <a:schemeClr val="tx2"/>
          </a:solidFill>
          <a:ln w="12700">
            <a:solidFill>
              <a:schemeClr val="accent6"/>
            </a:solidFill>
            <a:prstDash val="solid"/>
          </a:ln>
        </p:spPr>
      </p:sp>
      <p:sp>
        <p:nvSpPr>
          <p:cNvPr id="4" name="Sender number dot"/>
          <p:cNvSpPr/>
          <p:nvPr/>
        </p:nvSpPr>
        <p:spPr>
          <a:xfrm>
            <a:off x="822960" y="1645920"/>
            <a:ext cx="365760" cy="365760"/>
          </a:xfrm>
          <a:prstGeom prst="ellipse">
            <a:avLst/>
          </a:prstGeom>
          <a:solidFill>
            <a:schemeClr val="accent1"/>
          </a:solidFill>
          <a:ln/>
        </p:spPr>
      </p:sp>
      <p:sp>
        <p:nvSpPr>
          <p:cNvPr id="5" name="Sender number"/>
          <p:cNvSpPr txBox="1"/>
          <p:nvPr/>
        </p:nvSpPr>
        <p:spPr>
          <a:xfrm>
            <a:off x="822960" y="1645920"/>
            <a:ext cx="365760" cy="365760"/>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6" name="Sender title"/>
          <p:cNvSpPr txBox="1"/>
          <p:nvPr/>
        </p:nvSpPr>
        <p:spPr>
          <a:xfrm>
            <a:off x="1325880" y="1627632"/>
            <a:ext cx="2606040" cy="402336"/>
          </a:xfrm>
          <a:prstGeom prst="rect">
            <a:avLst/>
          </a:prstGeom>
          <a:noFill/>
          <a:ln/>
        </p:spPr>
        <p:txBody>
          <a:bodyPr wrap="square" lIns="0" tIns="0" rIns="0" bIns="0" rtlCol="0" anchor="ctr"/>
          <a:lstStyle/>
          <a:p>
            <a:pPr indent="0" marL="0">
              <a:buNone/>
            </a:pPr>
            <a:r>
              <a:rPr lang="en-US" sz="1600" b="1" dirty="0">
                <a:solidFill>
                  <a:schemeClr val="bg2"/>
                </a:solidFill>
              </a:rPr>
              <a:t>Sender</a:t>
            </a:r>
            <a:endParaRPr lang="en-US" sz="1600" dirty="0"/>
          </a:p>
        </p:txBody>
      </p:sp>
      <p:sp>
        <p:nvSpPr>
          <p:cNvPr id="7" name="Sender sub"/>
          <p:cNvSpPr txBox="1"/>
          <p:nvPr/>
        </p:nvSpPr>
        <p:spPr>
          <a:xfrm>
            <a:off x="822960" y="2103120"/>
            <a:ext cx="2971800" cy="292608"/>
          </a:xfrm>
          <a:prstGeom prst="rect">
            <a:avLst/>
          </a:prstGeom>
          <a:noFill/>
          <a:ln/>
        </p:spPr>
        <p:txBody>
          <a:bodyPr wrap="square" lIns="0" tIns="0" rIns="0" bIns="0" rtlCol="0" anchor="ctr"/>
          <a:lstStyle/>
          <a:p>
            <a:pPr indent="0" marL="0">
              <a:buNone/>
            </a:pPr>
            <a:r>
              <a:rPr lang="en-US" sz="1200" dirty="0">
                <a:solidFill>
                  <a:schemeClr val="accent5"/>
                </a:solidFill>
              </a:rPr>
              <a:t>Typed on the sender's phone. Never sent.</a:t>
            </a:r>
            <a:endParaRPr lang="en-US" sz="1200" dirty="0"/>
          </a:p>
        </p:txBody>
      </p:sp>
      <p:sp>
        <p:nvSpPr>
          <p:cNvPr id="8" name="Sender note box"/>
          <p:cNvSpPr/>
          <p:nvPr/>
        </p:nvSpPr>
        <p:spPr>
          <a:xfrm>
            <a:off x="822960" y="2514600"/>
            <a:ext cx="2926080" cy="2057400"/>
          </a:xfrm>
          <a:prstGeom prst="roundRect">
            <a:avLst>
              <a:gd name="adj" fmla="val 5333"/>
            </a:avLst>
          </a:prstGeom>
          <a:solidFill>
            <a:schemeClr val="tx1"/>
          </a:solidFill>
          <a:ln w="9525">
            <a:solidFill>
              <a:schemeClr val="accent1"/>
            </a:solidFill>
            <a:prstDash val="dash"/>
          </a:ln>
        </p:spPr>
      </p:sp>
      <p:sp>
        <p:nvSpPr>
          <p:cNvPr id="9" name="Sender text"/>
          <p:cNvSpPr txBox="1"/>
          <p:nvPr/>
        </p:nvSpPr>
        <p:spPr>
          <a:xfrm>
            <a:off x="960120" y="2606040"/>
            <a:ext cx="2651760" cy="1874520"/>
          </a:xfrm>
          <a:prstGeom prst="rect">
            <a:avLst/>
          </a:prstGeom>
          <a:noFill/>
          <a:ln/>
        </p:spPr>
        <p:txBody>
          <a:bodyPr wrap="square" lIns="0" tIns="0" rIns="0" bIns="0" rtlCol="0" anchor="t"/>
          <a:lstStyle/>
          <a:p>
            <a:pPr indent="0" marL="0">
              <a:buNone/>
            </a:pPr>
            <a:r>
              <a:rPr lang="en-US" sz="1400" dirty="0">
                <a:solidFill>
                  <a:schemeClr val="bg2"/>
                </a:solidFill>
                <a:latin typeface="Courier New" pitchFamily="34" charset="0"/>
                <a:ea typeface="Courier New" pitchFamily="34" charset="-122"/>
                <a:cs typeface="Courier New" pitchFamily="34" charset="-120"/>
              </a:rPr>
              <a:t>The book swap is at 41.7056 N, 86.2353 W. Open 0900-1200. Host is Maria Lopez. Bring two paperbacks Saturday.</a:t>
            </a:r>
            <a:endParaRPr lang="en-US" sz="1400" dirty="0"/>
          </a:p>
        </p:txBody>
      </p:sp>
      <p:sp>
        <p:nvSpPr>
          <p:cNvPr id="10" name="What an eavesdropper sees pane"/>
          <p:cNvSpPr/>
          <p:nvPr/>
        </p:nvSpPr>
        <p:spPr>
          <a:xfrm>
            <a:off x="4343400" y="1417320"/>
            <a:ext cx="3474720" cy="4617720"/>
          </a:xfrm>
          <a:prstGeom prst="roundRect">
            <a:avLst>
              <a:gd name="adj" fmla="val 3684"/>
            </a:avLst>
          </a:prstGeom>
          <a:solidFill>
            <a:schemeClr val="tx2"/>
          </a:solidFill>
          <a:ln w="12700">
            <a:solidFill>
              <a:schemeClr val="accent6"/>
            </a:solidFill>
            <a:prstDash val="solid"/>
          </a:ln>
        </p:spPr>
      </p:sp>
      <p:sp>
        <p:nvSpPr>
          <p:cNvPr id="11" name="What an eavesdropper sees number dot"/>
          <p:cNvSpPr/>
          <p:nvPr/>
        </p:nvSpPr>
        <p:spPr>
          <a:xfrm>
            <a:off x="4617720" y="1645920"/>
            <a:ext cx="365760" cy="365760"/>
          </a:xfrm>
          <a:prstGeom prst="ellipse">
            <a:avLst/>
          </a:prstGeom>
          <a:solidFill>
            <a:schemeClr val="accent3"/>
          </a:solidFill>
          <a:ln/>
        </p:spPr>
      </p:sp>
      <p:sp>
        <p:nvSpPr>
          <p:cNvPr id="12" name="What an eavesdropper sees number"/>
          <p:cNvSpPr txBox="1"/>
          <p:nvPr/>
        </p:nvSpPr>
        <p:spPr>
          <a:xfrm>
            <a:off x="4617720" y="1645920"/>
            <a:ext cx="365760" cy="365760"/>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3" name="What an eavesdropper sees title"/>
          <p:cNvSpPr txBox="1"/>
          <p:nvPr/>
        </p:nvSpPr>
        <p:spPr>
          <a:xfrm>
            <a:off x="5120640" y="1627632"/>
            <a:ext cx="2606040" cy="402336"/>
          </a:xfrm>
          <a:prstGeom prst="rect">
            <a:avLst/>
          </a:prstGeom>
          <a:noFill/>
          <a:ln/>
        </p:spPr>
        <p:txBody>
          <a:bodyPr wrap="square" lIns="0" tIns="0" rIns="0" bIns="0" rtlCol="0" anchor="ctr"/>
          <a:lstStyle/>
          <a:p>
            <a:pPr indent="0" marL="0">
              <a:buNone/>
            </a:pPr>
            <a:r>
              <a:rPr lang="en-US" sz="1600" b="1" dirty="0">
                <a:solidFill>
                  <a:schemeClr val="bg2"/>
                </a:solidFill>
              </a:rPr>
              <a:t>What an eavesdropper sees</a:t>
            </a:r>
            <a:endParaRPr lang="en-US" sz="1600" dirty="0"/>
          </a:p>
        </p:txBody>
      </p:sp>
      <p:sp>
        <p:nvSpPr>
          <p:cNvPr id="14" name="What an eavesdropper sees sub"/>
          <p:cNvSpPr txBox="1"/>
          <p:nvPr/>
        </p:nvSpPr>
        <p:spPr>
          <a:xfrm>
            <a:off x="4617720" y="2103120"/>
            <a:ext cx="2971800" cy="292608"/>
          </a:xfrm>
          <a:prstGeom prst="rect">
            <a:avLst/>
          </a:prstGeom>
          <a:noFill/>
          <a:ln/>
        </p:spPr>
        <p:txBody>
          <a:bodyPr wrap="square" lIns="0" tIns="0" rIns="0" bIns="0" rtlCol="0" anchor="ctr"/>
          <a:lstStyle/>
          <a:p>
            <a:pPr indent="0" marL="0">
              <a:buNone/>
            </a:pPr>
            <a:r>
              <a:rPr lang="en-US" sz="1200" dirty="0">
                <a:solidFill>
                  <a:schemeClr val="accent5"/>
                </a:solidFill>
              </a:rPr>
              <a:t>The only thing that crosses the wire.</a:t>
            </a:r>
            <a:endParaRPr lang="en-US" sz="1200" dirty="0"/>
          </a:p>
        </p:txBody>
      </p:sp>
      <p:sp>
        <p:nvSpPr>
          <p:cNvPr id="15" name="chat bubble"/>
          <p:cNvSpPr/>
          <p:nvPr/>
        </p:nvSpPr>
        <p:spPr>
          <a:xfrm>
            <a:off x="4617720" y="2514600"/>
            <a:ext cx="2926080" cy="2057400"/>
          </a:xfrm>
          <a:prstGeom prst="roundRect">
            <a:avLst>
              <a:gd name="adj" fmla="val 7111"/>
            </a:avLst>
          </a:prstGeom>
          <a:solidFill>
            <a:schemeClr val="accent3"/>
          </a:solidFill>
          <a:ln/>
        </p:spPr>
      </p:sp>
      <p:sp>
        <p:nvSpPr>
          <p:cNvPr id="16" name="What an eavesdropper sees text"/>
          <p:cNvSpPr txBox="1"/>
          <p:nvPr/>
        </p:nvSpPr>
        <p:spPr>
          <a:xfrm>
            <a:off x="4754880" y="2606040"/>
            <a:ext cx="2651760" cy="1874520"/>
          </a:xfrm>
          <a:prstGeom prst="rect">
            <a:avLst/>
          </a:prstGeom>
          <a:noFill/>
          <a:ln/>
        </p:spPr>
        <p:txBody>
          <a:bodyPr wrap="square" lIns="0" tIns="0" rIns="0" bIns="0" rtlCol="0" anchor="ctr"/>
          <a:lstStyle/>
          <a:p>
            <a:pPr indent="0" marL="0">
              <a:buNone/>
            </a:pPr>
            <a:r>
              <a:rPr lang="en-US" sz="1500" dirty="0">
                <a:solidFill>
                  <a:schemeClr val="bg1"/>
                </a:solidFill>
              </a:rPr>
              <a:t>The brunch is at gift code 41‑7056N and 86‑2353W. Open 9am‑12pm. Birthday girl is Maria Lopez. Bring two cupcakes Saturday.</a:t>
            </a:r>
            <a:endParaRPr lang="en-US" sz="1500" dirty="0"/>
          </a:p>
        </p:txBody>
      </p:sp>
      <p:sp>
        <p:nvSpPr>
          <p:cNvPr id="17" name="Receiver pane"/>
          <p:cNvSpPr/>
          <p:nvPr/>
        </p:nvSpPr>
        <p:spPr>
          <a:xfrm>
            <a:off x="8138160" y="1417320"/>
            <a:ext cx="3474720" cy="4617720"/>
          </a:xfrm>
          <a:prstGeom prst="roundRect">
            <a:avLst>
              <a:gd name="adj" fmla="val 3684"/>
            </a:avLst>
          </a:prstGeom>
          <a:solidFill>
            <a:schemeClr val="tx2"/>
          </a:solidFill>
          <a:ln w="12700">
            <a:solidFill>
              <a:schemeClr val="accent6"/>
            </a:solidFill>
            <a:prstDash val="solid"/>
          </a:ln>
        </p:spPr>
      </p:sp>
      <p:sp>
        <p:nvSpPr>
          <p:cNvPr id="18" name="Receiver number dot"/>
          <p:cNvSpPr/>
          <p:nvPr/>
        </p:nvSpPr>
        <p:spPr>
          <a:xfrm>
            <a:off x="8412480" y="1645920"/>
            <a:ext cx="365760" cy="365760"/>
          </a:xfrm>
          <a:prstGeom prst="ellipse">
            <a:avLst/>
          </a:prstGeom>
          <a:solidFill>
            <a:schemeClr val="accent2"/>
          </a:solidFill>
          <a:ln/>
        </p:spPr>
      </p:sp>
      <p:sp>
        <p:nvSpPr>
          <p:cNvPr id="19" name="Receiver number"/>
          <p:cNvSpPr txBox="1"/>
          <p:nvPr/>
        </p:nvSpPr>
        <p:spPr>
          <a:xfrm>
            <a:off x="8412480" y="1645920"/>
            <a:ext cx="365760" cy="365760"/>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20" name="Receiver title"/>
          <p:cNvSpPr txBox="1"/>
          <p:nvPr/>
        </p:nvSpPr>
        <p:spPr>
          <a:xfrm>
            <a:off x="8915400" y="1627632"/>
            <a:ext cx="2606040" cy="402336"/>
          </a:xfrm>
          <a:prstGeom prst="rect">
            <a:avLst/>
          </a:prstGeom>
          <a:noFill/>
          <a:ln/>
        </p:spPr>
        <p:txBody>
          <a:bodyPr wrap="square" lIns="0" tIns="0" rIns="0" bIns="0" rtlCol="0" anchor="ctr"/>
          <a:lstStyle/>
          <a:p>
            <a:pPr indent="0" marL="0">
              <a:buNone/>
            </a:pPr>
            <a:r>
              <a:rPr lang="en-US" sz="1600" b="1" dirty="0">
                <a:solidFill>
                  <a:schemeClr val="bg2"/>
                </a:solidFill>
              </a:rPr>
              <a:t>Receiver</a:t>
            </a:r>
            <a:endParaRPr lang="en-US" sz="1600" dirty="0"/>
          </a:p>
        </p:txBody>
      </p:sp>
      <p:sp>
        <p:nvSpPr>
          <p:cNvPr id="21" name="Receiver sub"/>
          <p:cNvSpPr txBox="1"/>
          <p:nvPr/>
        </p:nvSpPr>
        <p:spPr>
          <a:xfrm>
            <a:off x="8412480" y="2103120"/>
            <a:ext cx="2971800" cy="292608"/>
          </a:xfrm>
          <a:prstGeom prst="rect">
            <a:avLst/>
          </a:prstGeom>
          <a:noFill/>
          <a:ln/>
        </p:spPr>
        <p:txBody>
          <a:bodyPr wrap="square" lIns="0" tIns="0" rIns="0" bIns="0" rtlCol="0" anchor="ctr"/>
          <a:lstStyle/>
          <a:p>
            <a:pPr indent="0" marL="0">
              <a:buNone/>
            </a:pPr>
            <a:r>
              <a:rPr lang="en-US" sz="1200" dirty="0">
                <a:solidFill>
                  <a:schemeClr val="accent5"/>
                </a:solidFill>
              </a:rPr>
              <a:t>Unmasked with the shared key.</a:t>
            </a:r>
            <a:endParaRPr lang="en-US" sz="1200" dirty="0"/>
          </a:p>
        </p:txBody>
      </p:sp>
      <p:sp>
        <p:nvSpPr>
          <p:cNvPr id="22" name="Receiver note box"/>
          <p:cNvSpPr/>
          <p:nvPr/>
        </p:nvSpPr>
        <p:spPr>
          <a:xfrm>
            <a:off x="8412480" y="2514600"/>
            <a:ext cx="2926080" cy="2057400"/>
          </a:xfrm>
          <a:prstGeom prst="roundRect">
            <a:avLst>
              <a:gd name="adj" fmla="val 5333"/>
            </a:avLst>
          </a:prstGeom>
          <a:solidFill>
            <a:schemeClr val="tx1"/>
          </a:solidFill>
          <a:ln w="9525">
            <a:solidFill>
              <a:schemeClr val="accent2"/>
            </a:solidFill>
            <a:prstDash val="dash"/>
          </a:ln>
        </p:spPr>
      </p:sp>
      <p:sp>
        <p:nvSpPr>
          <p:cNvPr id="23" name="Receiver text"/>
          <p:cNvSpPr txBox="1"/>
          <p:nvPr/>
        </p:nvSpPr>
        <p:spPr>
          <a:xfrm>
            <a:off x="8549640" y="2606040"/>
            <a:ext cx="2651760" cy="1874520"/>
          </a:xfrm>
          <a:prstGeom prst="rect">
            <a:avLst/>
          </a:prstGeom>
          <a:noFill/>
          <a:ln/>
        </p:spPr>
        <p:txBody>
          <a:bodyPr wrap="square" lIns="0" tIns="0" rIns="0" bIns="0" rtlCol="0" anchor="t"/>
          <a:lstStyle/>
          <a:p>
            <a:pPr indent="0" marL="0">
              <a:buNone/>
            </a:pPr>
            <a:r>
              <a:rPr lang="en-US" sz="1400" dirty="0">
                <a:solidFill>
                  <a:schemeClr val="bg2"/>
                </a:solidFill>
                <a:latin typeface="Courier New" pitchFamily="34" charset="0"/>
                <a:ea typeface="Courier New" pitchFamily="34" charset="-122"/>
                <a:cs typeface="Courier New" pitchFamily="34" charset="-120"/>
              </a:rPr>
              <a:t>The book swap is at 41.7056 N and 86.2353 W. Open 0900-1200. Host is Maria Lopez. Bring two paperbacks Saturday.</a:t>
            </a:r>
            <a:endParaRPr lang="en-US" sz="1400" dirty="0"/>
          </a:p>
        </p:txBody>
      </p:sp>
      <p:sp>
        <p:nvSpPr>
          <p:cNvPr id="24" name="scan label"/>
          <p:cNvSpPr txBox="1"/>
          <p:nvPr/>
        </p:nvSpPr>
        <p:spPr>
          <a:xfrm>
            <a:off x="4480560" y="4754880"/>
            <a:ext cx="2926080" cy="274320"/>
          </a:xfrm>
          <a:prstGeom prst="rect">
            <a:avLst/>
          </a:prstGeom>
          <a:noFill/>
          <a:ln/>
        </p:spPr>
        <p:txBody>
          <a:bodyPr wrap="square" lIns="0" tIns="0" rIns="0" bIns="0" rtlCol="0" anchor="ctr"/>
          <a:lstStyle/>
          <a:p>
            <a:pPr indent="0" marL="0">
              <a:buNone/>
            </a:pPr>
            <a:r>
              <a:rPr lang="en-US" sz="1200" dirty="0">
                <a:solidFill>
                  <a:schemeClr val="accent5"/>
                </a:solidFill>
              </a:rPr>
              <a:t>Keyword scan of the intercept</a:t>
            </a:r>
            <a:endParaRPr lang="en-US" sz="1200" dirty="0"/>
          </a:p>
        </p:txBody>
      </p:sp>
      <p:sp>
        <p:nvSpPr>
          <p:cNvPr id="25" name="scan chip"/>
          <p:cNvSpPr/>
          <p:nvPr/>
        </p:nvSpPr>
        <p:spPr>
          <a:xfrm>
            <a:off x="4480560" y="5120640"/>
            <a:ext cx="2377440" cy="292608"/>
          </a:xfrm>
          <a:prstGeom prst="roundRect">
            <a:avLst>
              <a:gd name="adj" fmla="val 50000"/>
            </a:avLst>
          </a:prstGeom>
          <a:solidFill>
            <a:schemeClr val="accent2">
              <a:alpha val="15000"/>
            </a:schemeClr>
          </a:solidFill>
          <a:ln w="9525">
            <a:solidFill>
              <a:schemeClr val="accent2"/>
            </a:solidFill>
            <a:prstDash val="solid"/>
          </a:ln>
        </p:spPr>
      </p:sp>
      <p:sp>
        <p:nvSpPr>
          <p:cNvPr id="26" name="scan chip label"/>
          <p:cNvSpPr txBox="1"/>
          <p:nvPr/>
        </p:nvSpPr>
        <p:spPr>
          <a:xfrm>
            <a:off x="4480560" y="5120640"/>
            <a:ext cx="2377440" cy="292608"/>
          </a:xfrm>
          <a:prstGeom prst="rect">
            <a:avLst/>
          </a:prstGeom>
          <a:noFill/>
          <a:ln/>
        </p:spPr>
        <p:txBody>
          <a:bodyPr wrap="square" lIns="0" tIns="0" rIns="0" bIns="0" rtlCol="0" anchor="ctr"/>
          <a:lstStyle/>
          <a:p>
            <a:pPr algn="ctr" indent="0" marL="0">
              <a:buNone/>
            </a:pPr>
            <a:r>
              <a:rPr lang="en-US" sz="1100" b="1" dirty="0">
                <a:solidFill>
                  <a:schemeClr val="accent2"/>
                </a:solidFill>
              </a:rPr>
              <a:t>NOTHING FLAGGED</a:t>
            </a:r>
            <a:endParaRPr lang="en-US" sz="1100" dirty="0"/>
          </a:p>
        </p:txBody>
      </p:sp>
      <p:sp>
        <p:nvSpPr>
          <p:cNvPr id="27" name="scan terms"/>
          <p:cNvSpPr txBox="1"/>
          <p:nvPr/>
        </p:nvSpPr>
        <p:spPr>
          <a:xfrm>
            <a:off x="4480560" y="5486400"/>
            <a:ext cx="2926080" cy="320040"/>
          </a:xfrm>
          <a:prstGeom prst="rect">
            <a:avLst/>
          </a:prstGeom>
          <a:noFill/>
          <a:ln/>
        </p:spPr>
        <p:txBody>
          <a:bodyPr wrap="square" lIns="0" tIns="0" rIns="0" bIns="0" rtlCol="0" anchor="ctr"/>
          <a:lstStyle/>
          <a:p>
            <a:pPr indent="0" marL="0">
              <a:buNone/>
            </a:pPr>
            <a:r>
              <a:rPr lang="en-US" sz="1200" dirty="0">
                <a:solidFill>
                  <a:schemeClr val="accent5"/>
                </a:solidFill>
              </a:rPr>
              <a:t>book · swap · paperback · library</a:t>
            </a:r>
            <a:endParaRPr lang="en-US" sz="1200" dirty="0"/>
          </a:p>
        </p:txBody>
      </p:sp>
      <p:sp>
        <p:nvSpPr>
          <p:cNvPr id="28" name="details label"/>
          <p:cNvSpPr txBox="1"/>
          <p:nvPr/>
        </p:nvSpPr>
        <p:spPr>
          <a:xfrm>
            <a:off x="8275320" y="4754880"/>
            <a:ext cx="2926080" cy="274320"/>
          </a:xfrm>
          <a:prstGeom prst="rect">
            <a:avLst/>
          </a:prstGeom>
          <a:noFill/>
          <a:ln/>
        </p:spPr>
        <p:txBody>
          <a:bodyPr wrap="square" lIns="0" tIns="0" rIns="0" bIns="0" rtlCol="0" anchor="ctr"/>
          <a:lstStyle/>
          <a:p>
            <a:pPr indent="0" marL="0">
              <a:buNone/>
            </a:pPr>
            <a:r>
              <a:rPr lang="en-US" sz="1200" dirty="0">
                <a:solidFill>
                  <a:schemeClr val="accent5"/>
                </a:solidFill>
              </a:rPr>
              <a:t>Exact details recovered</a:t>
            </a:r>
            <a:endParaRPr lang="en-US" sz="1200" dirty="0"/>
          </a:p>
        </p:txBody>
      </p:sp>
      <p:sp>
        <p:nvSpPr>
          <p:cNvPr id="29" name="details chip"/>
          <p:cNvSpPr/>
          <p:nvPr/>
        </p:nvSpPr>
        <p:spPr>
          <a:xfrm>
            <a:off x="8275320" y="5120640"/>
            <a:ext cx="2011680" cy="292608"/>
          </a:xfrm>
          <a:prstGeom prst="roundRect">
            <a:avLst>
              <a:gd name="adj" fmla="val 50000"/>
            </a:avLst>
          </a:prstGeom>
          <a:solidFill>
            <a:schemeClr val="accent2">
              <a:alpha val="15000"/>
            </a:schemeClr>
          </a:solidFill>
          <a:ln w="9525">
            <a:solidFill>
              <a:schemeClr val="accent2"/>
            </a:solidFill>
            <a:prstDash val="solid"/>
          </a:ln>
        </p:spPr>
      </p:sp>
      <p:sp>
        <p:nvSpPr>
          <p:cNvPr id="30" name="details chip label"/>
          <p:cNvSpPr txBox="1"/>
          <p:nvPr/>
        </p:nvSpPr>
        <p:spPr>
          <a:xfrm>
            <a:off x="8275320" y="5120640"/>
            <a:ext cx="2011680" cy="292608"/>
          </a:xfrm>
          <a:prstGeom prst="rect">
            <a:avLst/>
          </a:prstGeom>
          <a:noFill/>
          <a:ln/>
        </p:spPr>
        <p:txBody>
          <a:bodyPr wrap="square" lIns="0" tIns="0" rIns="0" bIns="0" rtlCol="0" anchor="ctr"/>
          <a:lstStyle/>
          <a:p>
            <a:pPr algn="ctr" indent="0" marL="0">
              <a:buNone/>
            </a:pPr>
            <a:r>
              <a:rPr lang="en-US" sz="1100" b="1" dirty="0">
                <a:solidFill>
                  <a:schemeClr val="accent2"/>
                </a:solidFill>
              </a:rPr>
              <a:t>6 / 6 DETAILS</a:t>
            </a:r>
            <a:endParaRPr lang="en-US" sz="1100" dirty="0"/>
          </a:p>
        </p:txBody>
      </p:sp>
      <p:sp>
        <p:nvSpPr>
          <p:cNvPr id="31" name="details terms"/>
          <p:cNvSpPr txBox="1"/>
          <p:nvPr/>
        </p:nvSpPr>
        <p:spPr>
          <a:xfrm>
            <a:off x="8275320" y="5486400"/>
            <a:ext cx="2926080" cy="320040"/>
          </a:xfrm>
          <a:prstGeom prst="rect">
            <a:avLst/>
          </a:prstGeom>
          <a:noFill/>
          <a:ln/>
        </p:spPr>
        <p:txBody>
          <a:bodyPr wrap="square" lIns="0" tIns="0" rIns="0" bIns="0" rtlCol="0" anchor="ctr"/>
          <a:lstStyle/>
          <a:p>
            <a:pPr indent="0" marL="0">
              <a:buNone/>
            </a:pPr>
            <a:r>
              <a:rPr lang="en-US" sz="1200" dirty="0">
                <a:solidFill>
                  <a:schemeClr val="accent5"/>
                </a:solidFill>
              </a:rPr>
              <a:t>coords · times · name · day</a:t>
            </a:r>
            <a:endParaRPr lang="en-US" sz="1200" dirty="0"/>
          </a:p>
        </p:txBody>
      </p:sp>
      <p:sp>
        <p:nvSpPr>
          <p:cNvPr id="32" name="sender footnote"/>
          <p:cNvSpPr txBox="1"/>
          <p:nvPr/>
        </p:nvSpPr>
        <p:spPr>
          <a:xfrm>
            <a:off x="822960" y="4754880"/>
            <a:ext cx="2926080" cy="274320"/>
          </a:xfrm>
          <a:prstGeom prst="rect">
            <a:avLst/>
          </a:prstGeom>
          <a:noFill/>
          <a:ln/>
        </p:spPr>
        <p:txBody>
          <a:bodyPr wrap="square" lIns="0" tIns="0" rIns="0" bIns="0" rtlCol="0" anchor="ctr"/>
          <a:lstStyle/>
          <a:p>
            <a:pPr indent="0" marL="0">
              <a:buNone/>
            </a:pPr>
            <a:r>
              <a:rPr lang="en-US" sz="1200" dirty="0">
                <a:solidFill>
                  <a:schemeClr val="accent5"/>
                </a:solidFill>
              </a:rPr>
              <a:t>Your note stays on your phone.</a:t>
            </a:r>
            <a:endParaRPr lang="en-US" sz="12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7AE"/>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bg2"/>
                </a:solidFill>
              </a:rPr>
              <a:t>Exact details survive the round trip</a:t>
            </a:r>
            <a:endParaRPr lang="en-US" sz="3200" dirty="0"/>
          </a:p>
        </p:txBody>
      </p:sp>
      <p:sp>
        <p:nvSpPr>
          <p:cNvPr id="3" name="stat 0"/>
          <p:cNvSpPr/>
          <p:nvPr/>
        </p:nvSpPr>
        <p:spPr>
          <a:xfrm>
            <a:off x="548640" y="1463040"/>
            <a:ext cx="2615184" cy="1965960"/>
          </a:xfrm>
          <a:prstGeom prst="roundRect">
            <a:avLst>
              <a:gd name="adj" fmla="val 6512"/>
            </a:avLst>
          </a:prstGeom>
          <a:solidFill>
            <a:schemeClr val="tx2"/>
          </a:solidFill>
          <a:ln w="12700">
            <a:solidFill>
              <a:schemeClr val="accent6"/>
            </a:solidFill>
            <a:prstDash val="solid"/>
          </a:ln>
        </p:spPr>
      </p:sp>
      <p:sp>
        <p:nvSpPr>
          <p:cNvPr id="4" name="stat value 0"/>
          <p:cNvSpPr txBox="1"/>
          <p:nvPr/>
        </p:nvSpPr>
        <p:spPr>
          <a:xfrm>
            <a:off x="822960" y="1645920"/>
            <a:ext cx="2194560" cy="868680"/>
          </a:xfrm>
          <a:prstGeom prst="rect">
            <a:avLst/>
          </a:prstGeom>
          <a:noFill/>
          <a:ln/>
        </p:spPr>
        <p:txBody>
          <a:bodyPr wrap="square" lIns="0" tIns="0" rIns="0" bIns="0" rtlCol="0" anchor="ctr"/>
          <a:lstStyle/>
          <a:p>
            <a:pPr indent="0" marL="0">
              <a:buNone/>
            </a:pPr>
            <a:r>
              <a:rPr lang="en-US" sz="4800" b="1" dirty="0">
                <a:solidFill>
                  <a:schemeClr val="accent2"/>
                </a:solidFill>
                <a:latin typeface="Arial" pitchFamily="34" charset="0"/>
                <a:ea typeface="Arial" pitchFamily="34" charset="-122"/>
                <a:cs typeface="Arial" pitchFamily="34" charset="-120"/>
              </a:rPr>
              <a:t>100%</a:t>
            </a:r>
            <a:endParaRPr lang="en-US" sz="4800" dirty="0"/>
          </a:p>
        </p:txBody>
      </p:sp>
      <p:sp>
        <p:nvSpPr>
          <p:cNvPr id="5" name="stat label 0"/>
          <p:cNvSpPr txBox="1"/>
          <p:nvPr/>
        </p:nvSpPr>
        <p:spPr>
          <a:xfrm>
            <a:off x="822960" y="2560320"/>
            <a:ext cx="2148840" cy="731520"/>
          </a:xfrm>
          <a:prstGeom prst="rect">
            <a:avLst/>
          </a:prstGeom>
          <a:noFill/>
          <a:ln/>
        </p:spPr>
        <p:txBody>
          <a:bodyPr wrap="square" lIns="0" tIns="0" rIns="0" bIns="0" rtlCol="0" anchor="t"/>
          <a:lstStyle/>
          <a:p>
            <a:pPr indent="0" marL="0">
              <a:buNone/>
            </a:pPr>
            <a:r>
              <a:rPr lang="en-US" sz="1400" dirty="0">
                <a:solidFill>
                  <a:schemeClr val="accent5"/>
                </a:solidFill>
              </a:rPr>
              <a:t>exact details recovered on the test cases, both codecs</a:t>
            </a:r>
            <a:endParaRPr lang="en-US" sz="1400" dirty="0"/>
          </a:p>
        </p:txBody>
      </p:sp>
      <p:sp>
        <p:nvSpPr>
          <p:cNvPr id="6" name="stat 1"/>
          <p:cNvSpPr/>
          <p:nvPr/>
        </p:nvSpPr>
        <p:spPr>
          <a:xfrm>
            <a:off x="3364992" y="1463040"/>
            <a:ext cx="2615184" cy="1965960"/>
          </a:xfrm>
          <a:prstGeom prst="roundRect">
            <a:avLst>
              <a:gd name="adj" fmla="val 6512"/>
            </a:avLst>
          </a:prstGeom>
          <a:solidFill>
            <a:schemeClr val="tx2"/>
          </a:solidFill>
          <a:ln w="12700">
            <a:solidFill>
              <a:schemeClr val="accent6"/>
            </a:solidFill>
            <a:prstDash val="solid"/>
          </a:ln>
        </p:spPr>
      </p:sp>
      <p:sp>
        <p:nvSpPr>
          <p:cNvPr id="7" name="stat value 1"/>
          <p:cNvSpPr txBox="1"/>
          <p:nvPr/>
        </p:nvSpPr>
        <p:spPr>
          <a:xfrm>
            <a:off x="3639312" y="1645920"/>
            <a:ext cx="2194560" cy="868680"/>
          </a:xfrm>
          <a:prstGeom prst="rect">
            <a:avLst/>
          </a:prstGeom>
          <a:noFill/>
          <a:ln/>
        </p:spPr>
        <p:txBody>
          <a:bodyPr wrap="square" lIns="0" tIns="0" rIns="0" bIns="0" rtlCol="0" anchor="ctr"/>
          <a:lstStyle/>
          <a:p>
            <a:pPr indent="0" marL="0">
              <a:buNone/>
            </a:pPr>
            <a:r>
              <a:rPr lang="en-US" sz="4800" b="1" dirty="0">
                <a:solidFill>
                  <a:schemeClr val="accent2"/>
                </a:solidFill>
                <a:latin typeface="Arial" pitchFamily="34" charset="0"/>
                <a:ea typeface="Arial" pitchFamily="34" charset="-122"/>
                <a:cs typeface="Arial" pitchFamily="34" charset="-120"/>
              </a:rPr>
              <a:t>3 / 3</a:t>
            </a:r>
            <a:endParaRPr lang="en-US" sz="4800" dirty="0"/>
          </a:p>
        </p:txBody>
      </p:sp>
      <p:sp>
        <p:nvSpPr>
          <p:cNvPr id="8" name="stat label 1"/>
          <p:cNvSpPr txBox="1"/>
          <p:nvPr/>
        </p:nvSpPr>
        <p:spPr>
          <a:xfrm>
            <a:off x="3639312" y="2560320"/>
            <a:ext cx="2148840" cy="731520"/>
          </a:xfrm>
          <a:prstGeom prst="rect">
            <a:avLst/>
          </a:prstGeom>
          <a:noFill/>
          <a:ln/>
        </p:spPr>
        <p:txBody>
          <a:bodyPr wrap="square" lIns="0" tIns="0" rIns="0" bIns="0" rtlCol="0" anchor="t"/>
          <a:lstStyle/>
          <a:p>
            <a:pPr indent="0" marL="0">
              <a:buNone/>
            </a:pPr>
            <a:r>
              <a:rPr lang="en-US" sz="1400" dirty="0">
                <a:solidFill>
                  <a:schemeClr val="accent5"/>
                </a:solidFill>
              </a:rPr>
              <a:t>covers pass the keyword check</a:t>
            </a:r>
            <a:endParaRPr lang="en-US" sz="1400" dirty="0"/>
          </a:p>
        </p:txBody>
      </p:sp>
      <p:sp>
        <p:nvSpPr>
          <p:cNvPr id="9" name="stat 2"/>
          <p:cNvSpPr/>
          <p:nvPr/>
        </p:nvSpPr>
        <p:spPr>
          <a:xfrm>
            <a:off x="6181344" y="1463040"/>
            <a:ext cx="2615184" cy="1965960"/>
          </a:xfrm>
          <a:prstGeom prst="roundRect">
            <a:avLst>
              <a:gd name="adj" fmla="val 6512"/>
            </a:avLst>
          </a:prstGeom>
          <a:solidFill>
            <a:schemeClr val="tx2"/>
          </a:solidFill>
          <a:ln w="12700">
            <a:solidFill>
              <a:schemeClr val="accent6"/>
            </a:solidFill>
            <a:prstDash val="solid"/>
          </a:ln>
        </p:spPr>
      </p:sp>
      <p:sp>
        <p:nvSpPr>
          <p:cNvPr id="10" name="stat value 2"/>
          <p:cNvSpPr txBox="1"/>
          <p:nvPr/>
        </p:nvSpPr>
        <p:spPr>
          <a:xfrm>
            <a:off x="6455664" y="1645920"/>
            <a:ext cx="2194560" cy="868680"/>
          </a:xfrm>
          <a:prstGeom prst="rect">
            <a:avLst/>
          </a:prstGeom>
          <a:noFill/>
          <a:ln/>
        </p:spPr>
        <p:txBody>
          <a:bodyPr wrap="square" lIns="0" tIns="0" rIns="0" bIns="0" rtlCol="0" anchor="ctr"/>
          <a:lstStyle/>
          <a:p>
            <a:pPr indent="0" marL="0">
              <a:buNone/>
            </a:pPr>
            <a:r>
              <a:rPr lang="en-US" sz="4800" b="1" dirty="0">
                <a:solidFill>
                  <a:schemeClr val="accent1"/>
                </a:solidFill>
                <a:latin typeface="Arial" pitchFamily="34" charset="0"/>
                <a:ea typeface="Arial" pitchFamily="34" charset="-122"/>
                <a:cs typeface="Arial" pitchFamily="34" charset="-120"/>
              </a:rPr>
              <a:t>92%</a:t>
            </a:r>
            <a:endParaRPr lang="en-US" sz="4800" dirty="0"/>
          </a:p>
        </p:txBody>
      </p:sp>
      <p:sp>
        <p:nvSpPr>
          <p:cNvPr id="11" name="stat label 2"/>
          <p:cNvSpPr txBox="1"/>
          <p:nvPr/>
        </p:nvSpPr>
        <p:spPr>
          <a:xfrm>
            <a:off x="6455664" y="2560320"/>
            <a:ext cx="2148840" cy="731520"/>
          </a:xfrm>
          <a:prstGeom prst="rect">
            <a:avLst/>
          </a:prstGeom>
          <a:noFill/>
          <a:ln/>
        </p:spPr>
        <p:txBody>
          <a:bodyPr wrap="square" lIns="0" tIns="0" rIns="0" bIns="0" rtlCol="0" anchor="t"/>
          <a:lstStyle/>
          <a:p>
            <a:pPr indent="0" marL="0">
              <a:buNone/>
            </a:pPr>
            <a:r>
              <a:rPr lang="en-US" sz="1400" dirty="0">
                <a:solidFill>
                  <a:schemeClr val="accent5"/>
                </a:solidFill>
              </a:rPr>
              <a:t>recovered on 3 messages the prompts never saw</a:t>
            </a:r>
            <a:endParaRPr lang="en-US" sz="1400" dirty="0"/>
          </a:p>
        </p:txBody>
      </p:sp>
      <p:sp>
        <p:nvSpPr>
          <p:cNvPr id="12" name="stat 3"/>
          <p:cNvSpPr/>
          <p:nvPr/>
        </p:nvSpPr>
        <p:spPr>
          <a:xfrm>
            <a:off x="8997696" y="1463040"/>
            <a:ext cx="2615184" cy="1965960"/>
          </a:xfrm>
          <a:prstGeom prst="roundRect">
            <a:avLst>
              <a:gd name="adj" fmla="val 6512"/>
            </a:avLst>
          </a:prstGeom>
          <a:solidFill>
            <a:schemeClr val="tx2"/>
          </a:solidFill>
          <a:ln w="12700">
            <a:solidFill>
              <a:schemeClr val="accent6"/>
            </a:solidFill>
            <a:prstDash val="solid"/>
          </a:ln>
        </p:spPr>
      </p:sp>
      <p:sp>
        <p:nvSpPr>
          <p:cNvPr id="13" name="stat value 3"/>
          <p:cNvSpPr txBox="1"/>
          <p:nvPr/>
        </p:nvSpPr>
        <p:spPr>
          <a:xfrm>
            <a:off x="9272016" y="1645920"/>
            <a:ext cx="2194560" cy="868680"/>
          </a:xfrm>
          <a:prstGeom prst="rect">
            <a:avLst/>
          </a:prstGeom>
          <a:noFill/>
          <a:ln/>
        </p:spPr>
        <p:txBody>
          <a:bodyPr wrap="square" lIns="0" tIns="0" rIns="0" bIns="0" rtlCol="0" anchor="ctr"/>
          <a:lstStyle/>
          <a:p>
            <a:pPr indent="0" marL="0">
              <a:buNone/>
            </a:pPr>
            <a:r>
              <a:rPr lang="en-US" sz="4800" b="1" dirty="0">
                <a:solidFill>
                  <a:schemeClr val="accent3"/>
                </a:solidFill>
                <a:latin typeface="Arial" pitchFamily="34" charset="0"/>
                <a:ea typeface="Arial" pitchFamily="34" charset="-122"/>
                <a:cs typeface="Arial" pitchFamily="34" charset="-120"/>
              </a:rPr>
              <a:t>~17s</a:t>
            </a:r>
            <a:endParaRPr lang="en-US" sz="4800" dirty="0"/>
          </a:p>
        </p:txBody>
      </p:sp>
      <p:sp>
        <p:nvSpPr>
          <p:cNvPr id="14" name="stat label 3"/>
          <p:cNvSpPr txBox="1"/>
          <p:nvPr/>
        </p:nvSpPr>
        <p:spPr>
          <a:xfrm>
            <a:off x="9272016" y="2560320"/>
            <a:ext cx="2148840" cy="731520"/>
          </a:xfrm>
          <a:prstGeom prst="rect">
            <a:avLst/>
          </a:prstGeom>
          <a:noFill/>
          <a:ln/>
        </p:spPr>
        <p:txBody>
          <a:bodyPr wrap="square" lIns="0" tIns="0" rIns="0" bIns="0" rtlCol="0" anchor="t"/>
          <a:lstStyle/>
          <a:p>
            <a:pPr indent="0" marL="0">
              <a:buNone/>
            </a:pPr>
            <a:r>
              <a:rPr lang="en-US" sz="1400" dirty="0">
                <a:solidFill>
                  <a:schemeClr val="accent5"/>
                </a:solidFill>
              </a:rPr>
              <a:t>full round trip on a laptop CPU</a:t>
            </a:r>
            <a:endParaRPr lang="en-US" sz="1400" dirty="0"/>
          </a:p>
        </p:txBody>
      </p:sp>
      <p:graphicFrame>
        <p:nvGraphicFramePr>
          <p:cNvPr id="8" name="codec comparison"/>
          <p:cNvGraphicFramePr>
            <a:graphicFrameLocks noGrp="1"/>
          </p:cNvGraphicFramePr>
          <p:nvPr>
            <p:extLst>
              <p:ext uri="{D42A27DB-BD31-4B8C-83A1-F6EECF244321}">
                <p14:modId xmlns:p14="http://schemas.microsoft.com/office/powerpoint/2010/main" val="1579011935"/>
              </p:ext>
            </p:extLst>
          </p:nvPr>
        </p:nvGraphicFramePr>
        <p:xfrm>
          <a:off x="548640" y="3794760"/>
          <a:ext cx="6949440" cy="914400"/>
        </p:xfrm>
        <a:graphic>
          <a:graphicData uri="http://schemas.openxmlformats.org/drawingml/2006/table">
            <a:tbl>
              <a:tblPr/>
              <a:tblGrid>
                <a:gridCol w="2926080"/>
                <a:gridCol w="1005840"/>
                <a:gridCol w="1005840"/>
                <a:gridCol w="1005840"/>
                <a:gridCol w="1005840"/>
              </a:tblGrid>
              <a:tr h="457200">
                <a:tc>
                  <a:txBody>
                    <a:bodyPr/>
                    <a:lstStyle/>
                    <a:p>
                      <a:pPr indent="0" marL="0">
                        <a:buNone/>
                      </a:pPr>
                      <a:r>
                        <a:rPr lang="en-US" sz="1400" b="1" dirty="0">
                          <a:solidFill>
                            <a:schemeClr val="bg2"/>
                          </a:solidFill>
                        </a:rPr>
                        <a:t>Codec (qwen2.5:7b, local)</a:t>
                      </a:r>
                      <a:endParaRPr lang="en-US" sz="1400" dirty="0"/>
                    </a:p>
                  </a:txBody>
                  <a:tcPr marL="91440" marR="91440" marT="45720" marB="45720" anchor="ctr">
                    <a:lnL w="9525" cap="flat" cmpd="sng" algn="ctr">
                      <a:solidFill>
                        <a:srgbClr val="1E2A40"/>
                      </a:solidFill>
                      <a:prstDash val="solid"/>
                      <a:round/>
                      <a:headEnd type="none" w="med" len="med"/>
                      <a:tailEnd type="none" w="med" len="med"/>
                    </a:lnL>
                    <a:lnR w="9525" cap="flat" cmpd="sng" algn="ctr">
                      <a:solidFill>
                        <a:srgbClr val="1E2A40"/>
                      </a:solidFill>
                      <a:prstDash val="solid"/>
                      <a:round/>
                      <a:headEnd type="none" w="med" len="med"/>
                      <a:tailEnd type="none" w="med" len="med"/>
                    </a:lnR>
                    <a:lnT w="9525" cap="flat" cmpd="sng" algn="ctr">
                      <a:solidFill>
                        <a:srgbClr val="1E2A40"/>
                      </a:solidFill>
                      <a:prstDash val="solid"/>
                      <a:round/>
                      <a:headEnd type="none" w="med" len="med"/>
                      <a:tailEnd type="none" w="med" len="med"/>
                    </a:lnT>
                    <a:lnB w="9525" cap="flat" cmpd="sng" algn="ctr">
                      <a:solidFill>
                        <a:srgbClr val="1E2A40"/>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2"/>
                          </a:solidFill>
                        </a:rPr>
                        <a:t>Test cases</a:t>
                      </a:r>
                      <a:endParaRPr lang="en-US" sz="1400" dirty="0"/>
                    </a:p>
                  </a:txBody>
                  <a:tcPr marL="91440" marR="91440" marT="45720" marB="45720" anchor="ctr">
                    <a:lnL w="9525" cap="flat" cmpd="sng" algn="ctr">
                      <a:solidFill>
                        <a:srgbClr val="1E2A40"/>
                      </a:solidFill>
                      <a:prstDash val="solid"/>
                      <a:round/>
                      <a:headEnd type="none" w="med" len="med"/>
                      <a:tailEnd type="none" w="med" len="med"/>
                    </a:lnL>
                    <a:lnR w="9525" cap="flat" cmpd="sng" algn="ctr">
                      <a:solidFill>
                        <a:srgbClr val="1E2A40"/>
                      </a:solidFill>
                      <a:prstDash val="solid"/>
                      <a:round/>
                      <a:headEnd type="none" w="med" len="med"/>
                      <a:tailEnd type="none" w="med" len="med"/>
                    </a:lnR>
                    <a:lnT w="9525" cap="flat" cmpd="sng" algn="ctr">
                      <a:solidFill>
                        <a:srgbClr val="1E2A40"/>
                      </a:solidFill>
                      <a:prstDash val="solid"/>
                      <a:round/>
                      <a:headEnd type="none" w="med" len="med"/>
                      <a:tailEnd type="none" w="med" len="med"/>
                    </a:lnT>
                    <a:lnB w="9525" cap="flat" cmpd="sng" algn="ctr">
                      <a:solidFill>
                        <a:srgbClr val="1E2A40"/>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2"/>
                          </a:solidFill>
                        </a:rPr>
                        <a:t>Benign</a:t>
                      </a:r>
                      <a:endParaRPr lang="en-US" sz="1400" dirty="0"/>
                    </a:p>
                  </a:txBody>
                  <a:tcPr marL="91440" marR="91440" marT="45720" marB="45720" anchor="ctr">
                    <a:lnL w="9525" cap="flat" cmpd="sng" algn="ctr">
                      <a:solidFill>
                        <a:srgbClr val="1E2A40"/>
                      </a:solidFill>
                      <a:prstDash val="solid"/>
                      <a:round/>
                      <a:headEnd type="none" w="med" len="med"/>
                      <a:tailEnd type="none" w="med" len="med"/>
                    </a:lnL>
                    <a:lnR w="9525" cap="flat" cmpd="sng" algn="ctr">
                      <a:solidFill>
                        <a:srgbClr val="1E2A40"/>
                      </a:solidFill>
                      <a:prstDash val="solid"/>
                      <a:round/>
                      <a:headEnd type="none" w="med" len="med"/>
                      <a:tailEnd type="none" w="med" len="med"/>
                    </a:lnR>
                    <a:lnT w="9525" cap="flat" cmpd="sng" algn="ctr">
                      <a:solidFill>
                        <a:srgbClr val="1E2A40"/>
                      </a:solidFill>
                      <a:prstDash val="solid"/>
                      <a:round/>
                      <a:headEnd type="none" w="med" len="med"/>
                      <a:tailEnd type="none" w="med" len="med"/>
                    </a:lnT>
                    <a:lnB w="9525" cap="flat" cmpd="sng" algn="ctr">
                      <a:solidFill>
                        <a:srgbClr val="1E2A40"/>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2"/>
                          </a:solidFill>
                        </a:rPr>
                        <a:t>Unseen</a:t>
                      </a:r>
                      <a:endParaRPr lang="en-US" sz="1400" dirty="0"/>
                    </a:p>
                  </a:txBody>
                  <a:tcPr marL="91440" marR="91440" marT="45720" marB="45720" anchor="ctr">
                    <a:lnL w="9525" cap="flat" cmpd="sng" algn="ctr">
                      <a:solidFill>
                        <a:srgbClr val="1E2A40"/>
                      </a:solidFill>
                      <a:prstDash val="solid"/>
                      <a:round/>
                      <a:headEnd type="none" w="med" len="med"/>
                      <a:tailEnd type="none" w="med" len="med"/>
                    </a:lnL>
                    <a:lnR w="9525" cap="flat" cmpd="sng" algn="ctr">
                      <a:solidFill>
                        <a:srgbClr val="1E2A40"/>
                      </a:solidFill>
                      <a:prstDash val="solid"/>
                      <a:round/>
                      <a:headEnd type="none" w="med" len="med"/>
                      <a:tailEnd type="none" w="med" len="med"/>
                    </a:lnR>
                    <a:lnT w="9525" cap="flat" cmpd="sng" algn="ctr">
                      <a:solidFill>
                        <a:srgbClr val="1E2A40"/>
                      </a:solidFill>
                      <a:prstDash val="solid"/>
                      <a:round/>
                      <a:headEnd type="none" w="med" len="med"/>
                      <a:tailEnd type="none" w="med" len="med"/>
                    </a:lnT>
                    <a:lnB w="9525" cap="flat" cmpd="sng" algn="ctr">
                      <a:solidFill>
                        <a:srgbClr val="1E2A40"/>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2"/>
                          </a:solidFill>
                        </a:rPr>
                        <a:t>Benign</a:t>
                      </a:r>
                      <a:endParaRPr lang="en-US" sz="1400" dirty="0"/>
                    </a:p>
                  </a:txBody>
                  <a:tcPr marL="91440" marR="91440" marT="45720" marB="45720" anchor="ctr">
                    <a:lnL w="9525" cap="flat" cmpd="sng" algn="ctr">
                      <a:solidFill>
                        <a:srgbClr val="1E2A40"/>
                      </a:solidFill>
                      <a:prstDash val="solid"/>
                      <a:round/>
                      <a:headEnd type="none" w="med" len="med"/>
                      <a:tailEnd type="none" w="med" len="med"/>
                    </a:lnL>
                    <a:lnR w="9525" cap="flat" cmpd="sng" algn="ctr">
                      <a:solidFill>
                        <a:srgbClr val="1E2A40"/>
                      </a:solidFill>
                      <a:prstDash val="solid"/>
                      <a:round/>
                      <a:headEnd type="none" w="med" len="med"/>
                      <a:tailEnd type="none" w="med" len="med"/>
                    </a:lnR>
                    <a:lnT w="9525" cap="flat" cmpd="sng" algn="ctr">
                      <a:solidFill>
                        <a:srgbClr val="1E2A40"/>
                      </a:solidFill>
                      <a:prstDash val="solid"/>
                      <a:round/>
                      <a:headEnd type="none" w="med" len="med"/>
                      <a:tailEnd type="none" w="med" len="med"/>
                    </a:lnT>
                    <a:lnB w="9525" cap="flat" cmpd="sng" algn="ctr">
                      <a:solidFill>
                        <a:srgbClr val="1E2A40"/>
                      </a:solidFill>
                      <a:prstDash val="solid"/>
                      <a:round/>
                      <a:headEnd type="none" w="med" len="med"/>
                      <a:tailEnd type="none" w="med" len="med"/>
                    </a:lnB>
                    <a:solidFill>
                      <a:schemeClr val="tx2"/>
                    </a:solidFill>
                  </a:tcPr>
                </a:tc>
              </a:tr>
              <a:tr h="457200">
                <a:tc>
                  <a:txBody>
                    <a:bodyPr/>
                    <a:lstStyle/>
                    <a:p>
                      <a:pPr indent="0" marL="0">
                        <a:buNone/>
                      </a:pPr>
                      <a:r>
                        <a:rPr lang="en-US" sz="1400" dirty="0">
                          <a:solidFill>
                            <a:schemeClr val="bg2"/>
                          </a:solidFill>
                        </a:rPr>
                        <a:t>Two prompts (encode / decode)</a:t>
                      </a:r>
                      <a:endParaRPr lang="en-US" sz="1400" dirty="0"/>
                    </a:p>
                  </a:txBody>
                  <a:tcPr marL="91440" marR="91440" marT="45720" marB="45720" anchor="ctr">
                    <a:lnL w="9525" cap="flat" cmpd="sng" algn="ctr">
                      <a:solidFill>
                        <a:srgbClr val="1E2A40"/>
                      </a:solidFill>
                      <a:prstDash val="solid"/>
                      <a:round/>
                      <a:headEnd type="none" w="med" len="med"/>
                      <a:tailEnd type="none" w="med" len="med"/>
                    </a:lnL>
                    <a:lnR w="9525" cap="flat" cmpd="sng" algn="ctr">
                      <a:solidFill>
                        <a:srgbClr val="1E2A40"/>
                      </a:solidFill>
                      <a:prstDash val="solid"/>
                      <a:round/>
                      <a:headEnd type="none" w="med" len="med"/>
                      <a:tailEnd type="none" w="med" len="med"/>
                    </a:lnR>
                    <a:lnT w="9525" cap="flat" cmpd="sng" algn="ctr">
                      <a:solidFill>
                        <a:srgbClr val="1E2A40"/>
                      </a:solidFill>
                      <a:prstDash val="solid"/>
                      <a:round/>
                      <a:headEnd type="none" w="med" len="med"/>
                      <a:tailEnd type="none" w="med" len="med"/>
                    </a:lnT>
                    <a:lnB w="9525" cap="flat" cmpd="sng" algn="ctr">
                      <a:solidFill>
                        <a:srgbClr val="1E2A40"/>
                      </a:solidFill>
                      <a:prstDash val="solid"/>
                      <a:round/>
                      <a:headEnd type="none" w="med" len="med"/>
                      <a:tailEnd type="none" w="med" len="med"/>
                    </a:lnB>
                    <a:solidFill>
                      <a:schemeClr val="tx1"/>
                    </a:solidFill>
                  </a:tcPr>
                </a:tc>
                <a:tc>
                  <a:txBody>
                    <a:bodyPr/>
                    <a:lstStyle/>
                    <a:p>
                      <a:pPr algn="ctr" indent="0" marL="0">
                        <a:buNone/>
                      </a:pPr>
                      <a:r>
                        <a:rPr lang="en-US" sz="1400" dirty="0">
                          <a:solidFill>
                            <a:schemeClr val="bg2"/>
                          </a:solidFill>
                        </a:rPr>
                        <a:t>100%</a:t>
                      </a:r>
                      <a:endParaRPr lang="en-US" sz="1400" dirty="0"/>
                    </a:p>
                  </a:txBody>
                  <a:tcPr marL="91440" marR="91440" marT="45720" marB="45720" anchor="ctr">
                    <a:lnL w="9525" cap="flat" cmpd="sng" algn="ctr">
                      <a:solidFill>
                        <a:srgbClr val="1E2A40"/>
                      </a:solidFill>
                      <a:prstDash val="solid"/>
                      <a:round/>
                      <a:headEnd type="none" w="med" len="med"/>
                      <a:tailEnd type="none" w="med" len="med"/>
                    </a:lnL>
                    <a:lnR w="9525" cap="flat" cmpd="sng" algn="ctr">
                      <a:solidFill>
                        <a:srgbClr val="1E2A40"/>
                      </a:solidFill>
                      <a:prstDash val="solid"/>
                      <a:round/>
                      <a:headEnd type="none" w="med" len="med"/>
                      <a:tailEnd type="none" w="med" len="med"/>
                    </a:lnR>
                    <a:lnT w="9525" cap="flat" cmpd="sng" algn="ctr">
                      <a:solidFill>
                        <a:srgbClr val="1E2A40"/>
                      </a:solidFill>
                      <a:prstDash val="solid"/>
                      <a:round/>
                      <a:headEnd type="none" w="med" len="med"/>
                      <a:tailEnd type="none" w="med" len="med"/>
                    </a:lnT>
                    <a:lnB w="9525" cap="flat" cmpd="sng" algn="ctr">
                      <a:solidFill>
                        <a:srgbClr val="1E2A40"/>
                      </a:solidFill>
                      <a:prstDash val="solid"/>
                      <a:round/>
                      <a:headEnd type="none" w="med" len="med"/>
                      <a:tailEnd type="none" w="med" len="med"/>
                    </a:lnB>
                    <a:solidFill>
                      <a:schemeClr val="tx1"/>
                    </a:solidFill>
                  </a:tcPr>
                </a:tc>
                <a:tc>
                  <a:txBody>
                    <a:bodyPr/>
                    <a:lstStyle/>
                    <a:p>
                      <a:pPr algn="ctr" indent="0" marL="0">
                        <a:buNone/>
                      </a:pPr>
                      <a:r>
                        <a:rPr lang="en-US" sz="1400" dirty="0">
                          <a:solidFill>
                            <a:schemeClr val="bg2"/>
                          </a:solidFill>
                        </a:rPr>
                        <a:t>3/3</a:t>
                      </a:r>
                      <a:endParaRPr lang="en-US" sz="1400" dirty="0"/>
                    </a:p>
                  </a:txBody>
                  <a:tcPr marL="91440" marR="91440" marT="45720" marB="45720" anchor="ctr">
                    <a:lnL w="9525" cap="flat" cmpd="sng" algn="ctr">
                      <a:solidFill>
                        <a:srgbClr val="1E2A40"/>
                      </a:solidFill>
                      <a:prstDash val="solid"/>
                      <a:round/>
                      <a:headEnd type="none" w="med" len="med"/>
                      <a:tailEnd type="none" w="med" len="med"/>
                    </a:lnL>
                    <a:lnR w="9525" cap="flat" cmpd="sng" algn="ctr">
                      <a:solidFill>
                        <a:srgbClr val="1E2A40"/>
                      </a:solidFill>
                      <a:prstDash val="solid"/>
                      <a:round/>
                      <a:headEnd type="none" w="med" len="med"/>
                      <a:tailEnd type="none" w="med" len="med"/>
                    </a:lnR>
                    <a:lnT w="9525" cap="flat" cmpd="sng" algn="ctr">
                      <a:solidFill>
                        <a:srgbClr val="1E2A40"/>
                      </a:solidFill>
                      <a:prstDash val="solid"/>
                      <a:round/>
                      <a:headEnd type="none" w="med" len="med"/>
                      <a:tailEnd type="none" w="med" len="med"/>
                    </a:lnT>
                    <a:lnB w="9525" cap="flat" cmpd="sng" algn="ctr">
                      <a:solidFill>
                        <a:srgbClr val="1E2A40"/>
                      </a:solidFill>
                      <a:prstDash val="solid"/>
                      <a:round/>
                      <a:headEnd type="none" w="med" len="med"/>
                      <a:tailEnd type="none" w="med" len="med"/>
                    </a:lnB>
                    <a:solidFill>
                      <a:schemeClr val="tx1"/>
                    </a:solidFill>
                  </a:tcPr>
                </a:tc>
                <a:tc>
                  <a:txBody>
                    <a:bodyPr/>
                    <a:lstStyle/>
                    <a:p>
                      <a:pPr algn="ctr" indent="0" marL="0">
                        <a:buNone/>
                      </a:pPr>
                      <a:r>
                        <a:rPr lang="en-US" sz="1400" dirty="0">
                          <a:solidFill>
                            <a:schemeClr val="bg2"/>
                          </a:solidFill>
                        </a:rPr>
                        <a:t>92%</a:t>
                      </a:r>
                      <a:endParaRPr lang="en-US" sz="1400" dirty="0"/>
                    </a:p>
                  </a:txBody>
                  <a:tcPr marL="91440" marR="91440" marT="45720" marB="45720" anchor="ctr">
                    <a:lnL w="9525" cap="flat" cmpd="sng" algn="ctr">
                      <a:solidFill>
                        <a:srgbClr val="1E2A40"/>
                      </a:solidFill>
                      <a:prstDash val="solid"/>
                      <a:round/>
                      <a:headEnd type="none" w="med" len="med"/>
                      <a:tailEnd type="none" w="med" len="med"/>
                    </a:lnL>
                    <a:lnR w="9525" cap="flat" cmpd="sng" algn="ctr">
                      <a:solidFill>
                        <a:srgbClr val="1E2A40"/>
                      </a:solidFill>
                      <a:prstDash val="solid"/>
                      <a:round/>
                      <a:headEnd type="none" w="med" len="med"/>
                      <a:tailEnd type="none" w="med" len="med"/>
                    </a:lnR>
                    <a:lnT w="9525" cap="flat" cmpd="sng" algn="ctr">
                      <a:solidFill>
                        <a:srgbClr val="1E2A40"/>
                      </a:solidFill>
                      <a:prstDash val="solid"/>
                      <a:round/>
                      <a:headEnd type="none" w="med" len="med"/>
                      <a:tailEnd type="none" w="med" len="med"/>
                    </a:lnT>
                    <a:lnB w="9525" cap="flat" cmpd="sng" algn="ctr">
                      <a:solidFill>
                        <a:srgbClr val="1E2A40"/>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accent4"/>
                          </a:solidFill>
                        </a:rPr>
                        <a:t>2/3</a:t>
                      </a:r>
                      <a:endParaRPr lang="en-US" sz="1400" dirty="0"/>
                    </a:p>
                  </a:txBody>
                  <a:tcPr marL="91440" marR="91440" marT="45720" marB="45720" anchor="ctr">
                    <a:lnL w="9525" cap="flat" cmpd="sng" algn="ctr">
                      <a:solidFill>
                        <a:srgbClr val="1E2A40"/>
                      </a:solidFill>
                      <a:prstDash val="solid"/>
                      <a:round/>
                      <a:headEnd type="none" w="med" len="med"/>
                      <a:tailEnd type="none" w="med" len="med"/>
                    </a:lnL>
                    <a:lnR w="9525" cap="flat" cmpd="sng" algn="ctr">
                      <a:solidFill>
                        <a:srgbClr val="1E2A40"/>
                      </a:solidFill>
                      <a:prstDash val="solid"/>
                      <a:round/>
                      <a:headEnd type="none" w="med" len="med"/>
                      <a:tailEnd type="none" w="med" len="med"/>
                    </a:lnR>
                    <a:lnT w="9525" cap="flat" cmpd="sng" algn="ctr">
                      <a:solidFill>
                        <a:srgbClr val="1E2A40"/>
                      </a:solidFill>
                      <a:prstDash val="solid"/>
                      <a:round/>
                      <a:headEnd type="none" w="med" len="med"/>
                      <a:tailEnd type="none" w="med" len="med"/>
                    </a:lnT>
                    <a:lnB w="9525" cap="flat" cmpd="sng" algn="ctr">
                      <a:solidFill>
                        <a:srgbClr val="1E2A40"/>
                      </a:solidFill>
                      <a:prstDash val="solid"/>
                      <a:round/>
                      <a:headEnd type="none" w="med" len="med"/>
                      <a:tailEnd type="none" w="med" len="med"/>
                    </a:lnB>
                    <a:solidFill>
                      <a:schemeClr val="tx1"/>
                    </a:solidFill>
                  </a:tcPr>
                </a:tc>
              </a:tr>
              <a:tr h="457200">
                <a:tc>
                  <a:txBody>
                    <a:bodyPr/>
                    <a:lstStyle/>
                    <a:p>
                      <a:pPr indent="0" marL="0">
                        <a:buNone/>
                      </a:pPr>
                      <a:r>
                        <a:rPr lang="en-US" sz="1400" b="1" dirty="0">
                          <a:solidFill>
                            <a:schemeClr val="bg2"/>
                          </a:solidFill>
                        </a:rPr>
                        <a:t>One bidirectional prompt</a:t>
                      </a:r>
                      <a:endParaRPr lang="en-US" sz="1400" dirty="0"/>
                    </a:p>
                  </a:txBody>
                  <a:tcPr marL="91440" marR="91440" marT="45720" marB="45720" anchor="ctr">
                    <a:lnL w="9525" cap="flat" cmpd="sng" algn="ctr">
                      <a:solidFill>
                        <a:srgbClr val="1E2A40"/>
                      </a:solidFill>
                      <a:prstDash val="solid"/>
                      <a:round/>
                      <a:headEnd type="none" w="med" len="med"/>
                      <a:tailEnd type="none" w="med" len="med"/>
                    </a:lnL>
                    <a:lnR w="9525" cap="flat" cmpd="sng" algn="ctr">
                      <a:solidFill>
                        <a:srgbClr val="1E2A40"/>
                      </a:solidFill>
                      <a:prstDash val="solid"/>
                      <a:round/>
                      <a:headEnd type="none" w="med" len="med"/>
                      <a:tailEnd type="none" w="med" len="med"/>
                    </a:lnR>
                    <a:lnT w="9525" cap="flat" cmpd="sng" algn="ctr">
                      <a:solidFill>
                        <a:srgbClr val="1E2A40"/>
                      </a:solidFill>
                      <a:prstDash val="solid"/>
                      <a:round/>
                      <a:headEnd type="none" w="med" len="med"/>
                      <a:tailEnd type="none" w="med" len="med"/>
                    </a:lnT>
                    <a:lnB w="9525" cap="flat" cmpd="sng" algn="ctr">
                      <a:solidFill>
                        <a:srgbClr val="1E2A40"/>
                      </a:solidFill>
                      <a:prstDash val="solid"/>
                      <a:round/>
                      <a:headEnd type="none" w="med" len="med"/>
                      <a:tailEnd type="none" w="med" len="med"/>
                    </a:lnB>
                    <a:solidFill>
                      <a:schemeClr val="tx1"/>
                    </a:solidFill>
                  </a:tcPr>
                </a:tc>
                <a:tc>
                  <a:txBody>
                    <a:bodyPr/>
                    <a:lstStyle/>
                    <a:p>
                      <a:pPr algn="ctr" indent="0" marL="0">
                        <a:buNone/>
                      </a:pPr>
                      <a:r>
                        <a:rPr lang="en-US" sz="1400" dirty="0">
                          <a:solidFill>
                            <a:schemeClr val="bg2"/>
                          </a:solidFill>
                        </a:rPr>
                        <a:t>100%</a:t>
                      </a:r>
                      <a:endParaRPr lang="en-US" sz="1400" dirty="0"/>
                    </a:p>
                  </a:txBody>
                  <a:tcPr marL="91440" marR="91440" marT="45720" marB="45720" anchor="ctr">
                    <a:lnL w="9525" cap="flat" cmpd="sng" algn="ctr">
                      <a:solidFill>
                        <a:srgbClr val="1E2A40"/>
                      </a:solidFill>
                      <a:prstDash val="solid"/>
                      <a:round/>
                      <a:headEnd type="none" w="med" len="med"/>
                      <a:tailEnd type="none" w="med" len="med"/>
                    </a:lnL>
                    <a:lnR w="9525" cap="flat" cmpd="sng" algn="ctr">
                      <a:solidFill>
                        <a:srgbClr val="1E2A40"/>
                      </a:solidFill>
                      <a:prstDash val="solid"/>
                      <a:round/>
                      <a:headEnd type="none" w="med" len="med"/>
                      <a:tailEnd type="none" w="med" len="med"/>
                    </a:lnR>
                    <a:lnT w="9525" cap="flat" cmpd="sng" algn="ctr">
                      <a:solidFill>
                        <a:srgbClr val="1E2A40"/>
                      </a:solidFill>
                      <a:prstDash val="solid"/>
                      <a:round/>
                      <a:headEnd type="none" w="med" len="med"/>
                      <a:tailEnd type="none" w="med" len="med"/>
                    </a:lnT>
                    <a:lnB w="9525" cap="flat" cmpd="sng" algn="ctr">
                      <a:solidFill>
                        <a:srgbClr val="1E2A40"/>
                      </a:solidFill>
                      <a:prstDash val="solid"/>
                      <a:round/>
                      <a:headEnd type="none" w="med" len="med"/>
                      <a:tailEnd type="none" w="med" len="med"/>
                    </a:lnB>
                    <a:solidFill>
                      <a:schemeClr val="tx1"/>
                    </a:solidFill>
                  </a:tcPr>
                </a:tc>
                <a:tc>
                  <a:txBody>
                    <a:bodyPr/>
                    <a:lstStyle/>
                    <a:p>
                      <a:pPr algn="ctr" indent="0" marL="0">
                        <a:buNone/>
                      </a:pPr>
                      <a:r>
                        <a:rPr lang="en-US" sz="1400" dirty="0">
                          <a:solidFill>
                            <a:schemeClr val="bg2"/>
                          </a:solidFill>
                        </a:rPr>
                        <a:t>3/3</a:t>
                      </a:r>
                      <a:endParaRPr lang="en-US" sz="1400" dirty="0"/>
                    </a:p>
                  </a:txBody>
                  <a:tcPr marL="91440" marR="91440" marT="45720" marB="45720" anchor="ctr">
                    <a:lnL w="9525" cap="flat" cmpd="sng" algn="ctr">
                      <a:solidFill>
                        <a:srgbClr val="1E2A40"/>
                      </a:solidFill>
                      <a:prstDash val="solid"/>
                      <a:round/>
                      <a:headEnd type="none" w="med" len="med"/>
                      <a:tailEnd type="none" w="med" len="med"/>
                    </a:lnL>
                    <a:lnR w="9525" cap="flat" cmpd="sng" algn="ctr">
                      <a:solidFill>
                        <a:srgbClr val="1E2A40"/>
                      </a:solidFill>
                      <a:prstDash val="solid"/>
                      <a:round/>
                      <a:headEnd type="none" w="med" len="med"/>
                      <a:tailEnd type="none" w="med" len="med"/>
                    </a:lnR>
                    <a:lnT w="9525" cap="flat" cmpd="sng" algn="ctr">
                      <a:solidFill>
                        <a:srgbClr val="1E2A40"/>
                      </a:solidFill>
                      <a:prstDash val="solid"/>
                      <a:round/>
                      <a:headEnd type="none" w="med" len="med"/>
                      <a:tailEnd type="none" w="med" len="med"/>
                    </a:lnT>
                    <a:lnB w="9525" cap="flat" cmpd="sng" algn="ctr">
                      <a:solidFill>
                        <a:srgbClr val="1E2A40"/>
                      </a:solidFill>
                      <a:prstDash val="solid"/>
                      <a:round/>
                      <a:headEnd type="none" w="med" len="med"/>
                      <a:tailEnd type="none" w="med" len="med"/>
                    </a:lnB>
                    <a:solidFill>
                      <a:schemeClr val="tx1"/>
                    </a:solidFill>
                  </a:tcPr>
                </a:tc>
                <a:tc>
                  <a:txBody>
                    <a:bodyPr/>
                    <a:lstStyle/>
                    <a:p>
                      <a:pPr algn="ctr" indent="0" marL="0">
                        <a:buNone/>
                      </a:pPr>
                      <a:r>
                        <a:rPr lang="en-US" sz="1400" dirty="0">
                          <a:solidFill>
                            <a:schemeClr val="bg2"/>
                          </a:solidFill>
                        </a:rPr>
                        <a:t>92%</a:t>
                      </a:r>
                      <a:endParaRPr lang="en-US" sz="1400" dirty="0"/>
                    </a:p>
                  </a:txBody>
                  <a:tcPr marL="91440" marR="91440" marT="45720" marB="45720" anchor="ctr">
                    <a:lnL w="9525" cap="flat" cmpd="sng" algn="ctr">
                      <a:solidFill>
                        <a:srgbClr val="1E2A40"/>
                      </a:solidFill>
                      <a:prstDash val="solid"/>
                      <a:round/>
                      <a:headEnd type="none" w="med" len="med"/>
                      <a:tailEnd type="none" w="med" len="med"/>
                    </a:lnL>
                    <a:lnR w="9525" cap="flat" cmpd="sng" algn="ctr">
                      <a:solidFill>
                        <a:srgbClr val="1E2A40"/>
                      </a:solidFill>
                      <a:prstDash val="solid"/>
                      <a:round/>
                      <a:headEnd type="none" w="med" len="med"/>
                      <a:tailEnd type="none" w="med" len="med"/>
                    </a:lnR>
                    <a:lnT w="9525" cap="flat" cmpd="sng" algn="ctr">
                      <a:solidFill>
                        <a:srgbClr val="1E2A40"/>
                      </a:solidFill>
                      <a:prstDash val="solid"/>
                      <a:round/>
                      <a:headEnd type="none" w="med" len="med"/>
                      <a:tailEnd type="none" w="med" len="med"/>
                    </a:lnT>
                    <a:lnB w="9525" cap="flat" cmpd="sng" algn="ctr">
                      <a:solidFill>
                        <a:srgbClr val="1E2A40"/>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accent2"/>
                          </a:solidFill>
                        </a:rPr>
                        <a:t>3/3</a:t>
                      </a:r>
                      <a:endParaRPr lang="en-US" sz="1400" dirty="0"/>
                    </a:p>
                  </a:txBody>
                  <a:tcPr marL="91440" marR="91440" marT="45720" marB="45720" anchor="ctr">
                    <a:lnL w="9525" cap="flat" cmpd="sng" algn="ctr">
                      <a:solidFill>
                        <a:srgbClr val="1E2A40"/>
                      </a:solidFill>
                      <a:prstDash val="solid"/>
                      <a:round/>
                      <a:headEnd type="none" w="med" len="med"/>
                      <a:tailEnd type="none" w="med" len="med"/>
                    </a:lnL>
                    <a:lnR w="9525" cap="flat" cmpd="sng" algn="ctr">
                      <a:solidFill>
                        <a:srgbClr val="1E2A40"/>
                      </a:solidFill>
                      <a:prstDash val="solid"/>
                      <a:round/>
                      <a:headEnd type="none" w="med" len="med"/>
                      <a:tailEnd type="none" w="med" len="med"/>
                    </a:lnR>
                    <a:lnT w="9525" cap="flat" cmpd="sng" algn="ctr">
                      <a:solidFill>
                        <a:srgbClr val="1E2A40"/>
                      </a:solidFill>
                      <a:prstDash val="solid"/>
                      <a:round/>
                      <a:headEnd type="none" w="med" len="med"/>
                      <a:tailEnd type="none" w="med" len="med"/>
                    </a:lnT>
                    <a:lnB w="9525" cap="flat" cmpd="sng" algn="ctr">
                      <a:solidFill>
                        <a:srgbClr val="1E2A40"/>
                      </a:solidFill>
                      <a:prstDash val="solid"/>
                      <a:round/>
                      <a:headEnd type="none" w="med" len="med"/>
                      <a:tailEnd type="none" w="med" len="med"/>
                    </a:lnB>
                    <a:solidFill>
                      <a:schemeClr val="tx1"/>
                    </a:solidFill>
                  </a:tcPr>
                </a:tc>
              </a:tr>
            </a:tbl>
          </a:graphicData>
        </a:graphic>
      </p:graphicFrame>
      <p:sp>
        <p:nvSpPr>
          <p:cNvPr id="16" name="results note"/>
          <p:cNvSpPr txBox="1"/>
          <p:nvPr/>
        </p:nvSpPr>
        <p:spPr>
          <a:xfrm>
            <a:off x="7863840" y="3794760"/>
            <a:ext cx="3776472" cy="2103120"/>
          </a:xfrm>
          <a:prstGeom prst="rect">
            <a:avLst/>
          </a:prstGeom>
          <a:noFill/>
          <a:ln/>
        </p:spPr>
        <p:txBody>
          <a:bodyPr wrap="square" lIns="0" tIns="0" rIns="0" bIns="0" rtlCol="0" anchor="t"/>
          <a:lstStyle/>
          <a:p>
            <a:pPr indent="0" marL="0">
              <a:buNone/>
            </a:pPr>
            <a:r>
              <a:rPr lang="en-US" sz="1400" dirty="0">
                <a:solidFill>
                  <a:schemeClr val="accent5"/>
                </a:solidFill>
              </a:rPr>
              <a:t>Same input gives the same output every run (temperature 0). The single prompt matched the baseline on recovery and leaked no flagged words on unseen messages. On an earlier unseen set the baseline fell to 78%: small samples, read as direction, not proof.</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7AE"/>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bg2"/>
                </a:solidFill>
              </a:rPr>
              <a:t>It runs on a laptop today: no cloud, no API key</a:t>
            </a:r>
            <a:endParaRPr lang="en-US" sz="3200" dirty="0"/>
          </a:p>
        </p:txBody>
      </p:sp>
      <p:sp>
        <p:nvSpPr>
          <p:cNvPr id="3" name="FiCpu circle"/>
          <p:cNvSpPr/>
          <p:nvPr/>
        </p:nvSpPr>
        <p:spPr>
          <a:xfrm>
            <a:off x="548640" y="1508760"/>
            <a:ext cx="566928" cy="566928"/>
          </a:xfrm>
          <a:prstGeom prst="ellipse">
            <a:avLst/>
          </a:prstGeom>
          <a:solidFill>
            <a:schemeClr val="accent2">
              <a:alpha val="18000"/>
            </a:schemeClr>
          </a:solidFill>
          <a:ln/>
        </p:spPr>
      </p:sp>
      <p:pic>
        <p:nvPicPr>
          <p:cNvPr id="4" name="FiCpu icon" descr="preencoded.png">    </p:cNvPr>
          <p:cNvPicPr>
            <a:picLocks noChangeAspect="1"/>
          </p:cNvPicPr>
          <p:nvPr/>
        </p:nvPicPr>
        <p:blipFill>
          <a:blip r:embed="rId1"/>
          <a:stretch>
            <a:fillRect/>
          </a:stretch>
        </p:blipFill>
        <p:spPr>
          <a:xfrm>
            <a:off x="696041" y="1656161"/>
            <a:ext cx="272125" cy="272125"/>
          </a:xfrm>
          <a:prstGeom prst="rect">
            <a:avLst/>
          </a:prstGeom>
        </p:spPr>
      </p:pic>
      <p:sp>
        <p:nvSpPr>
          <p:cNvPr id="5" name="A 7B open model, on CPU header"/>
          <p:cNvSpPr txBox="1"/>
          <p:nvPr/>
        </p:nvSpPr>
        <p:spPr>
          <a:xfrm>
            <a:off x="1325880" y="1490472"/>
            <a:ext cx="4617720" cy="329184"/>
          </a:xfrm>
          <a:prstGeom prst="rect">
            <a:avLst/>
          </a:prstGeom>
          <a:noFill/>
          <a:ln/>
        </p:spPr>
        <p:txBody>
          <a:bodyPr wrap="square" lIns="0" tIns="0" rIns="0" bIns="0" rtlCol="0" anchor="ctr"/>
          <a:lstStyle/>
          <a:p>
            <a:pPr indent="0" marL="0">
              <a:buNone/>
            </a:pPr>
            <a:r>
              <a:rPr lang="en-US" sz="1800" b="1" dirty="0">
                <a:solidFill>
                  <a:schemeClr val="bg2"/>
                </a:solidFill>
              </a:rPr>
              <a:t>A 7B open model, on CPU</a:t>
            </a:r>
            <a:endParaRPr lang="en-US" sz="1800" dirty="0"/>
          </a:p>
        </p:txBody>
      </p:sp>
      <p:sp>
        <p:nvSpPr>
          <p:cNvPr id="6" name="A 7B open model, on CPU body"/>
          <p:cNvSpPr txBox="1"/>
          <p:nvPr/>
        </p:nvSpPr>
        <p:spPr>
          <a:xfrm>
            <a:off x="1325880" y="1837944"/>
            <a:ext cx="4617720" cy="548640"/>
          </a:xfrm>
          <a:prstGeom prst="rect">
            <a:avLst/>
          </a:prstGeom>
          <a:noFill/>
          <a:ln/>
        </p:spPr>
        <p:txBody>
          <a:bodyPr wrap="square" lIns="0" tIns="0" rIns="0" bIns="0" rtlCol="0" anchor="t"/>
          <a:lstStyle/>
          <a:p>
            <a:pPr indent="0" marL="0">
              <a:buNone/>
            </a:pPr>
            <a:r>
              <a:rPr lang="en-US" sz="1500" dirty="0">
                <a:solidFill>
                  <a:schemeClr val="accent5"/>
                </a:solidFill>
              </a:rPr>
              <a:t>qwen2.5:7b via Ollama: a 4.7 GB download, no GPU needed.</a:t>
            </a:r>
            <a:endParaRPr lang="en-US" sz="1500" dirty="0"/>
          </a:p>
        </p:txBody>
      </p:sp>
      <p:sp>
        <p:nvSpPr>
          <p:cNvPr id="7" name="FiClock circle"/>
          <p:cNvSpPr/>
          <p:nvPr/>
        </p:nvSpPr>
        <p:spPr>
          <a:xfrm>
            <a:off x="548640" y="2697480"/>
            <a:ext cx="566928" cy="566928"/>
          </a:xfrm>
          <a:prstGeom prst="ellipse">
            <a:avLst/>
          </a:prstGeom>
          <a:solidFill>
            <a:schemeClr val="accent2">
              <a:alpha val="18000"/>
            </a:schemeClr>
          </a:solidFill>
          <a:ln/>
        </p:spPr>
      </p:sp>
      <p:pic>
        <p:nvPicPr>
          <p:cNvPr id="8" name="FiClock icon" descr="preencoded.png">    </p:cNvPr>
          <p:cNvPicPr>
            <a:picLocks noChangeAspect="1"/>
          </p:cNvPicPr>
          <p:nvPr/>
        </p:nvPicPr>
        <p:blipFill>
          <a:blip r:embed="rId2"/>
          <a:stretch>
            <a:fillRect/>
          </a:stretch>
        </p:blipFill>
        <p:spPr>
          <a:xfrm>
            <a:off x="696041" y="2844881"/>
            <a:ext cx="272125" cy="272125"/>
          </a:xfrm>
          <a:prstGeom prst="rect">
            <a:avLst/>
          </a:prstGeom>
        </p:spPr>
      </p:pic>
      <p:sp>
        <p:nvSpPr>
          <p:cNvPr id="9" name="Usable speed header"/>
          <p:cNvSpPr txBox="1"/>
          <p:nvPr/>
        </p:nvSpPr>
        <p:spPr>
          <a:xfrm>
            <a:off x="1325880" y="2679192"/>
            <a:ext cx="4617720" cy="329184"/>
          </a:xfrm>
          <a:prstGeom prst="rect">
            <a:avLst/>
          </a:prstGeom>
          <a:noFill/>
          <a:ln/>
        </p:spPr>
        <p:txBody>
          <a:bodyPr wrap="square" lIns="0" tIns="0" rIns="0" bIns="0" rtlCol="0" anchor="ctr"/>
          <a:lstStyle/>
          <a:p>
            <a:pPr indent="0" marL="0">
              <a:buNone/>
            </a:pPr>
            <a:r>
              <a:rPr lang="en-US" sz="1800" b="1" dirty="0">
                <a:solidFill>
                  <a:schemeClr val="bg2"/>
                </a:solidFill>
              </a:rPr>
              <a:t>Usable speed</a:t>
            </a:r>
            <a:endParaRPr lang="en-US" sz="1800" dirty="0"/>
          </a:p>
        </p:txBody>
      </p:sp>
      <p:sp>
        <p:nvSpPr>
          <p:cNvPr id="10" name="Usable speed body"/>
          <p:cNvSpPr txBox="1"/>
          <p:nvPr/>
        </p:nvSpPr>
        <p:spPr>
          <a:xfrm>
            <a:off x="1325880" y="3026664"/>
            <a:ext cx="4617720" cy="548640"/>
          </a:xfrm>
          <a:prstGeom prst="rect">
            <a:avLst/>
          </a:prstGeom>
          <a:noFill/>
          <a:ln/>
        </p:spPr>
        <p:txBody>
          <a:bodyPr wrap="square" lIns="0" tIns="0" rIns="0" bIns="0" rtlCol="0" anchor="t"/>
          <a:lstStyle/>
          <a:p>
            <a:pPr indent="0" marL="0">
              <a:buNone/>
            </a:pPr>
            <a:r>
              <a:rPr lang="en-US" sz="1500" dirty="0">
                <a:solidFill>
                  <a:schemeClr val="accent5"/>
                </a:solidFill>
              </a:rPr>
              <a:t>About 17 seconds per round trip once warm, about 66 seconds cold.</a:t>
            </a:r>
            <a:endParaRPr lang="en-US" sz="1500" dirty="0"/>
          </a:p>
        </p:txBody>
      </p:sp>
      <p:sp>
        <p:nvSpPr>
          <p:cNvPr id="11" name="FiCloud circle"/>
          <p:cNvSpPr/>
          <p:nvPr/>
        </p:nvSpPr>
        <p:spPr>
          <a:xfrm>
            <a:off x="548640" y="3886200"/>
            <a:ext cx="566928" cy="566928"/>
          </a:xfrm>
          <a:prstGeom prst="ellipse">
            <a:avLst/>
          </a:prstGeom>
          <a:solidFill>
            <a:schemeClr val="accent2">
              <a:alpha val="18000"/>
            </a:schemeClr>
          </a:solidFill>
          <a:ln/>
        </p:spPr>
      </p:sp>
      <p:pic>
        <p:nvPicPr>
          <p:cNvPr id="12" name="FiCloud icon" descr="preencoded.png">    </p:cNvPr>
          <p:cNvPicPr>
            <a:picLocks noChangeAspect="1"/>
          </p:cNvPicPr>
          <p:nvPr/>
        </p:nvPicPr>
        <p:blipFill>
          <a:blip r:embed="rId3"/>
          <a:stretch>
            <a:fillRect/>
          </a:stretch>
        </p:blipFill>
        <p:spPr>
          <a:xfrm>
            <a:off x="696041" y="4033601"/>
            <a:ext cx="272125" cy="272125"/>
          </a:xfrm>
          <a:prstGeom prst="rect">
            <a:avLst/>
          </a:prstGeom>
        </p:spPr>
      </p:pic>
      <p:sp>
        <p:nvSpPr>
          <p:cNvPr id="13" name="Cloud is one setting away header"/>
          <p:cNvSpPr txBox="1"/>
          <p:nvPr/>
        </p:nvSpPr>
        <p:spPr>
          <a:xfrm>
            <a:off x="1325880" y="3867912"/>
            <a:ext cx="4617720" cy="329184"/>
          </a:xfrm>
          <a:prstGeom prst="rect">
            <a:avLst/>
          </a:prstGeom>
          <a:noFill/>
          <a:ln/>
        </p:spPr>
        <p:txBody>
          <a:bodyPr wrap="square" lIns="0" tIns="0" rIns="0" bIns="0" rtlCol="0" anchor="ctr"/>
          <a:lstStyle/>
          <a:p>
            <a:pPr indent="0" marL="0">
              <a:buNone/>
            </a:pPr>
            <a:r>
              <a:rPr lang="en-US" sz="1800" b="1" dirty="0">
                <a:solidFill>
                  <a:schemeClr val="bg2"/>
                </a:solidFill>
              </a:rPr>
              <a:t>Cloud is one setting away</a:t>
            </a:r>
            <a:endParaRPr lang="en-US" sz="1800" dirty="0"/>
          </a:p>
        </p:txBody>
      </p:sp>
      <p:sp>
        <p:nvSpPr>
          <p:cNvPr id="14" name="Cloud is one setting away body"/>
          <p:cNvSpPr txBox="1"/>
          <p:nvPr/>
        </p:nvSpPr>
        <p:spPr>
          <a:xfrm>
            <a:off x="1325880" y="4215384"/>
            <a:ext cx="4617720" cy="548640"/>
          </a:xfrm>
          <a:prstGeom prst="rect">
            <a:avLst/>
          </a:prstGeom>
          <a:noFill/>
          <a:ln/>
        </p:spPr>
        <p:txBody>
          <a:bodyPr wrap="square" lIns="0" tIns="0" rIns="0" bIns="0" rtlCol="0" anchor="t"/>
          <a:lstStyle/>
          <a:p>
            <a:pPr indent="0" marL="0">
              <a:buNone/>
            </a:pPr>
            <a:r>
              <a:rPr lang="en-US" sz="1500" dirty="0">
                <a:solidFill>
                  <a:schemeClr val="accent5"/>
                </a:solidFill>
              </a:rPr>
              <a:t>The same code runs against a hosted model by changing one line in .env.</a:t>
            </a:r>
            <a:endParaRPr lang="en-US" sz="1500" dirty="0"/>
          </a:p>
        </p:txBody>
      </p:sp>
      <p:sp>
        <p:nvSpPr>
          <p:cNvPr id="15" name="FiLayers circle"/>
          <p:cNvSpPr/>
          <p:nvPr/>
        </p:nvSpPr>
        <p:spPr>
          <a:xfrm>
            <a:off x="548640" y="5074920"/>
            <a:ext cx="566928" cy="566928"/>
          </a:xfrm>
          <a:prstGeom prst="ellipse">
            <a:avLst/>
          </a:prstGeom>
          <a:solidFill>
            <a:schemeClr val="accent2">
              <a:alpha val="18000"/>
            </a:schemeClr>
          </a:solidFill>
          <a:ln/>
        </p:spPr>
      </p:sp>
      <p:pic>
        <p:nvPicPr>
          <p:cNvPr id="16" name="FiLayers icon" descr="preencoded.png">    </p:cNvPr>
          <p:cNvPicPr>
            <a:picLocks noChangeAspect="1"/>
          </p:cNvPicPr>
          <p:nvPr/>
        </p:nvPicPr>
        <p:blipFill>
          <a:blip r:embed="rId4"/>
          <a:stretch>
            <a:fillRect/>
          </a:stretch>
        </p:blipFill>
        <p:spPr>
          <a:xfrm>
            <a:off x="696041" y="5222321"/>
            <a:ext cx="272125" cy="272125"/>
          </a:xfrm>
          <a:prstGeom prst="rect">
            <a:avLst/>
          </a:prstGeom>
        </p:spPr>
      </p:pic>
      <p:sp>
        <p:nvSpPr>
          <p:cNvPr id="17" name="Built to grow header"/>
          <p:cNvSpPr txBox="1"/>
          <p:nvPr/>
        </p:nvSpPr>
        <p:spPr>
          <a:xfrm>
            <a:off x="1325880" y="5056632"/>
            <a:ext cx="4617720" cy="329184"/>
          </a:xfrm>
          <a:prstGeom prst="rect">
            <a:avLst/>
          </a:prstGeom>
          <a:noFill/>
          <a:ln/>
        </p:spPr>
        <p:txBody>
          <a:bodyPr wrap="square" lIns="0" tIns="0" rIns="0" bIns="0" rtlCol="0" anchor="ctr"/>
          <a:lstStyle/>
          <a:p>
            <a:pPr indent="0" marL="0">
              <a:buNone/>
            </a:pPr>
            <a:r>
              <a:rPr lang="en-US" sz="1800" b="1" dirty="0">
                <a:solidFill>
                  <a:schemeClr val="bg2"/>
                </a:solidFill>
              </a:rPr>
              <a:t>Built to grow</a:t>
            </a:r>
            <a:endParaRPr lang="en-US" sz="1800" dirty="0"/>
          </a:p>
        </p:txBody>
      </p:sp>
      <p:sp>
        <p:nvSpPr>
          <p:cNvPr id="18" name="Built to grow body"/>
          <p:cNvSpPr txBox="1"/>
          <p:nvPr/>
        </p:nvSpPr>
        <p:spPr>
          <a:xfrm>
            <a:off x="1325880" y="5404104"/>
            <a:ext cx="4617720" cy="548640"/>
          </a:xfrm>
          <a:prstGeom prst="rect">
            <a:avLst/>
          </a:prstGeom>
          <a:noFill/>
          <a:ln/>
        </p:spPr>
        <p:txBody>
          <a:bodyPr wrap="square" lIns="0" tIns="0" rIns="0" bIns="0" rtlCol="0" anchor="t"/>
          <a:lstStyle/>
          <a:p>
            <a:pPr indent="0" marL="0">
              <a:buNone/>
            </a:pPr>
            <a:r>
              <a:rPr lang="en-US" sz="1500" dirty="0">
                <a:solidFill>
                  <a:schemeClr val="accent5"/>
                </a:solidFill>
              </a:rPr>
              <a:t>Every future feature is a new Provider or Codec, not a rewrite.</a:t>
            </a:r>
            <a:endParaRPr lang="en-US" sz="1500" dirty="0"/>
          </a:p>
        </p:txBody>
      </p:sp>
      <p:sp>
        <p:nvSpPr>
          <p:cNvPr id="19" name="architecture panel"/>
          <p:cNvSpPr/>
          <p:nvPr/>
        </p:nvSpPr>
        <p:spPr>
          <a:xfrm>
            <a:off x="6355080" y="1508760"/>
            <a:ext cx="5285232" cy="4526280"/>
          </a:xfrm>
          <a:prstGeom prst="roundRect">
            <a:avLst>
              <a:gd name="adj" fmla="val 2828"/>
            </a:avLst>
          </a:prstGeom>
          <a:solidFill>
            <a:schemeClr val="tx1"/>
          </a:solidFill>
          <a:ln w="12700">
            <a:solidFill>
              <a:schemeClr val="accent6"/>
            </a:solidFill>
            <a:prstDash val="solid"/>
          </a:ln>
        </p:spPr>
      </p:sp>
      <p:sp>
        <p:nvSpPr>
          <p:cNvPr id="20" name="callers"/>
          <p:cNvSpPr/>
          <p:nvPr/>
        </p:nvSpPr>
        <p:spPr>
          <a:xfrm>
            <a:off x="6675120" y="1783080"/>
            <a:ext cx="4645152" cy="594360"/>
          </a:xfrm>
          <a:prstGeom prst="roundRect">
            <a:avLst>
              <a:gd name="adj" fmla="val 15385"/>
            </a:avLst>
          </a:prstGeom>
          <a:solidFill>
            <a:schemeClr val="tx2"/>
          </a:solidFill>
          <a:ln w="12700">
            <a:solidFill>
              <a:srgbClr val="1E2A40"/>
            </a:solidFill>
            <a:prstDash val="solid"/>
          </a:ln>
        </p:spPr>
      </p:sp>
      <p:sp>
        <p:nvSpPr>
          <p:cNvPr id="21" name="callers label"/>
          <p:cNvSpPr txBox="1"/>
          <p:nvPr/>
        </p:nvSpPr>
        <p:spPr>
          <a:xfrm>
            <a:off x="6812280" y="1783080"/>
            <a:ext cx="4370832" cy="594360"/>
          </a:xfrm>
          <a:prstGeom prst="rect">
            <a:avLst/>
          </a:prstGeom>
          <a:noFill/>
          <a:ln/>
        </p:spPr>
        <p:txBody>
          <a:bodyPr wrap="square" lIns="0" tIns="0" rIns="0" bIns="0" rtlCol="0" anchor="ctr"/>
          <a:lstStyle/>
          <a:p>
            <a:pPr indent="0" marL="0">
              <a:buNone/>
            </a:pPr>
            <a:r>
              <a:rPr lang="en-US" sz="1400" b="1" dirty="0">
                <a:solidFill>
                  <a:schemeClr val="bg2"/>
                </a:solidFill>
              </a:rPr>
              <a:t>CLI  ·  Demo app  ·  Eval harness</a:t>
            </a:r>
            <a:endParaRPr lang="en-US" sz="1400" dirty="0"/>
          </a:p>
        </p:txBody>
      </p:sp>
      <p:sp>
        <p:nvSpPr>
          <p:cNvPr id="22" name="codec seam"/>
          <p:cNvSpPr/>
          <p:nvPr/>
        </p:nvSpPr>
        <p:spPr>
          <a:xfrm>
            <a:off x="6675120" y="2788920"/>
            <a:ext cx="4645152" cy="1005840"/>
          </a:xfrm>
          <a:prstGeom prst="roundRect">
            <a:avLst>
              <a:gd name="adj" fmla="val 9091"/>
            </a:avLst>
          </a:prstGeom>
          <a:solidFill>
            <a:schemeClr val="tx2"/>
          </a:solidFill>
          <a:ln w="12700">
            <a:solidFill>
              <a:srgbClr val="F5B544"/>
            </a:solidFill>
            <a:prstDash val="solid"/>
          </a:ln>
        </p:spPr>
      </p:sp>
      <p:sp>
        <p:nvSpPr>
          <p:cNvPr id="23" name="codec seam label"/>
          <p:cNvSpPr txBox="1"/>
          <p:nvPr/>
        </p:nvSpPr>
        <p:spPr>
          <a:xfrm>
            <a:off x="6812280" y="2788920"/>
            <a:ext cx="4370832" cy="1005840"/>
          </a:xfrm>
          <a:prstGeom prst="rect">
            <a:avLst/>
          </a:prstGeom>
          <a:noFill/>
          <a:ln/>
        </p:spPr>
        <p:txBody>
          <a:bodyPr wrap="square" lIns="0" tIns="0" rIns="0" bIns="0" rtlCol="0" anchor="ctr"/>
          <a:lstStyle/>
          <a:p>
            <a:pPr indent="0" marL="0">
              <a:buNone/>
            </a:pPr>
            <a:r>
              <a:rPr lang="en-US" sz="1400" b="1" dirty="0">
                <a:solidFill>
                  <a:schemeClr val="bg2"/>
                </a:solidFill>
              </a:rPr>
              <a:t>Codec  (how masking works)</a:t>
            </a:r>
            <a:endParaRPr lang="en-US" sz="1400" dirty="0"/>
          </a:p>
          <a:p>
            <a:pPr indent="0" marL="0">
              <a:buNone/>
            </a:pPr>
            <a:r>
              <a:rPr lang="en-US" sz="1200" dirty="0">
                <a:solidFill>
                  <a:schemeClr val="accent5"/>
                </a:solidFill>
              </a:rPr>
              <a:t>Two prompts · One bidirectional prompt · Keyed fields (next)</a:t>
            </a:r>
            <a:endParaRPr lang="en-US" sz="1400" dirty="0"/>
          </a:p>
        </p:txBody>
      </p:sp>
      <p:sp>
        <p:nvSpPr>
          <p:cNvPr id="24" name="provider seam"/>
          <p:cNvSpPr/>
          <p:nvPr/>
        </p:nvSpPr>
        <p:spPr>
          <a:xfrm>
            <a:off x="6675120" y="4206240"/>
            <a:ext cx="4645152" cy="1005840"/>
          </a:xfrm>
          <a:prstGeom prst="roundRect">
            <a:avLst>
              <a:gd name="adj" fmla="val 9091"/>
            </a:avLst>
          </a:prstGeom>
          <a:solidFill>
            <a:schemeClr val="tx2"/>
          </a:solidFill>
          <a:ln w="12700">
            <a:solidFill>
              <a:srgbClr val="2DD4A7"/>
            </a:solidFill>
            <a:prstDash val="solid"/>
          </a:ln>
        </p:spPr>
      </p:sp>
      <p:sp>
        <p:nvSpPr>
          <p:cNvPr id="25" name="provider seam label"/>
          <p:cNvSpPr txBox="1"/>
          <p:nvPr/>
        </p:nvSpPr>
        <p:spPr>
          <a:xfrm>
            <a:off x="6812280" y="4206240"/>
            <a:ext cx="4370832" cy="1005840"/>
          </a:xfrm>
          <a:prstGeom prst="rect">
            <a:avLst/>
          </a:prstGeom>
          <a:noFill/>
          <a:ln/>
        </p:spPr>
        <p:txBody>
          <a:bodyPr wrap="square" lIns="0" tIns="0" rIns="0" bIns="0" rtlCol="0" anchor="ctr"/>
          <a:lstStyle/>
          <a:p>
            <a:pPr indent="0" marL="0">
              <a:buNone/>
            </a:pPr>
            <a:r>
              <a:rPr lang="en-US" sz="1400" b="1" dirty="0">
                <a:solidFill>
                  <a:schemeClr val="bg2"/>
                </a:solidFill>
              </a:rPr>
              <a:t>LLMProvider  (where text comes from)</a:t>
            </a:r>
            <a:endParaRPr lang="en-US" sz="1400" dirty="0"/>
          </a:p>
          <a:p>
            <a:pPr indent="0" marL="0">
              <a:buNone/>
            </a:pPr>
            <a:r>
              <a:rPr lang="en-US" sz="1200" dirty="0">
                <a:solidFill>
                  <a:schemeClr val="accent5"/>
                </a:solidFill>
              </a:rPr>
              <a:t>Ollama, local · Anthropic, cloud · Mock, tests</a:t>
            </a:r>
            <a:endParaRPr lang="en-US" sz="1400" dirty="0"/>
          </a:p>
        </p:txBody>
      </p:sp>
      <p:pic>
        <p:nvPicPr>
          <p:cNvPr id="26" name="flow arrow 2.62" descr="preencoded.png">    </p:cNvPr>
          <p:cNvPicPr>
            <a:picLocks noChangeAspect="1"/>
          </p:cNvPicPr>
          <p:nvPr/>
        </p:nvPicPr>
        <p:blipFill>
          <a:blip r:embed="rId5"/>
          <a:stretch>
            <a:fillRect/>
          </a:stretch>
        </p:blipFill>
        <p:spPr>
          <a:xfrm>
            <a:off x="8860536" y="2395728"/>
            <a:ext cx="274320" cy="365760"/>
          </a:xfrm>
          <a:prstGeom prst="rect">
            <a:avLst/>
          </a:prstGeom>
        </p:spPr>
      </p:pic>
      <p:pic>
        <p:nvPicPr>
          <p:cNvPr id="27" name="flow arrow 4.17" descr="preencoded.png">    </p:cNvPr>
          <p:cNvPicPr>
            <a:picLocks noChangeAspect="1"/>
          </p:cNvPicPr>
          <p:nvPr/>
        </p:nvPicPr>
        <p:blipFill>
          <a:blip r:embed="rId6"/>
          <a:stretch>
            <a:fillRect/>
          </a:stretch>
        </p:blipFill>
        <p:spPr>
          <a:xfrm>
            <a:off x="8860536" y="3813048"/>
            <a:ext cx="274320" cy="365760"/>
          </a:xfrm>
          <a:prstGeom prst="rect">
            <a:avLst/>
          </a:prstGeom>
        </p:spPr>
      </p:pic>
      <p:sp>
        <p:nvSpPr>
          <p:cNvPr id="28" name="arch caption"/>
          <p:cNvSpPr txBox="1"/>
          <p:nvPr/>
        </p:nvSpPr>
        <p:spPr>
          <a:xfrm>
            <a:off x="6675120" y="5394960"/>
            <a:ext cx="4645152" cy="365760"/>
          </a:xfrm>
          <a:prstGeom prst="rect">
            <a:avLst/>
          </a:prstGeom>
          <a:noFill/>
          <a:ln/>
        </p:spPr>
        <p:txBody>
          <a:bodyPr wrap="square" lIns="0" tIns="0" rIns="0" bIns="0" rtlCol="0" anchor="ctr"/>
          <a:lstStyle/>
          <a:p>
            <a:pPr indent="0" marL="0">
              <a:buNone/>
            </a:pPr>
            <a:r>
              <a:rPr lang="en-US" sz="1200" dirty="0">
                <a:solidFill>
                  <a:schemeClr val="accent5"/>
                </a:solidFill>
              </a:rPr>
              <a:t>Callers only ever touch the two interfaces.</a:t>
            </a:r>
            <a:endParaRPr lang="en-US" sz="12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7AE"/>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bg2"/>
                </a:solidFill>
              </a:rPr>
              <a:t>What still breaks, and how we know</a:t>
            </a:r>
            <a:endParaRPr lang="en-US" sz="3200" dirty="0"/>
          </a:p>
        </p:txBody>
      </p:sp>
      <p:sp>
        <p:nvSpPr>
          <p:cNvPr id="3" name="Vocabulary gaps card"/>
          <p:cNvSpPr/>
          <p:nvPr/>
        </p:nvSpPr>
        <p:spPr>
          <a:xfrm>
            <a:off x="548640" y="1463040"/>
            <a:ext cx="5394960" cy="2057400"/>
          </a:xfrm>
          <a:prstGeom prst="roundRect">
            <a:avLst>
              <a:gd name="adj" fmla="val 6222"/>
            </a:avLst>
          </a:prstGeom>
          <a:solidFill>
            <a:schemeClr val="tx2"/>
          </a:solidFill>
          <a:ln w="12700">
            <a:solidFill>
              <a:schemeClr val="accent6"/>
            </a:solidFill>
            <a:prstDash val="solid"/>
          </a:ln>
        </p:spPr>
      </p:sp>
      <p:sp>
        <p:nvSpPr>
          <p:cNvPr id="4" name="FiAlertTriangle circle"/>
          <p:cNvSpPr/>
          <p:nvPr/>
        </p:nvSpPr>
        <p:spPr>
          <a:xfrm>
            <a:off x="868680" y="1783080"/>
            <a:ext cx="566928" cy="566928"/>
          </a:xfrm>
          <a:prstGeom prst="ellipse">
            <a:avLst/>
          </a:prstGeom>
          <a:solidFill>
            <a:schemeClr val="accent1">
              <a:alpha val="18000"/>
            </a:schemeClr>
          </a:solidFill>
          <a:ln/>
        </p:spPr>
      </p:sp>
      <p:pic>
        <p:nvPicPr>
          <p:cNvPr id="5" name="FiAlertTriangle icon" descr="preencoded.png">    </p:cNvPr>
          <p:cNvPicPr>
            <a:picLocks noChangeAspect="1"/>
          </p:cNvPicPr>
          <p:nvPr/>
        </p:nvPicPr>
        <p:blipFill>
          <a:blip r:embed="rId1"/>
          <a:stretch>
            <a:fillRect/>
          </a:stretch>
        </p:blipFill>
        <p:spPr>
          <a:xfrm>
            <a:off x="1016081" y="1930481"/>
            <a:ext cx="272125" cy="272125"/>
          </a:xfrm>
          <a:prstGeom prst="rect">
            <a:avLst/>
          </a:prstGeom>
        </p:spPr>
      </p:pic>
      <p:sp>
        <p:nvSpPr>
          <p:cNvPr id="6" name="Vocabulary gaps"/>
          <p:cNvSpPr txBox="1"/>
          <p:nvPr/>
        </p:nvSpPr>
        <p:spPr>
          <a:xfrm>
            <a:off x="1645920" y="1828800"/>
            <a:ext cx="4023360" cy="457200"/>
          </a:xfrm>
          <a:prstGeom prst="rect">
            <a:avLst/>
          </a:prstGeom>
          <a:noFill/>
          <a:ln/>
        </p:spPr>
        <p:txBody>
          <a:bodyPr wrap="square" lIns="0" tIns="0" rIns="0" bIns="0" rtlCol="0" anchor="ctr"/>
          <a:lstStyle/>
          <a:p>
            <a:pPr indent="0" marL="0">
              <a:buNone/>
            </a:pPr>
            <a:r>
              <a:rPr lang="en-US" sz="1900" b="1" dirty="0">
                <a:solidFill>
                  <a:schemeClr val="bg2"/>
                </a:solidFill>
              </a:rPr>
              <a:t>Vocabulary gaps</a:t>
            </a:r>
            <a:endParaRPr lang="en-US" sz="1900" dirty="0"/>
          </a:p>
        </p:txBody>
      </p:sp>
      <p:sp>
        <p:nvSpPr>
          <p:cNvPr id="7" name="Vocabulary gaps body"/>
          <p:cNvSpPr txBox="1"/>
          <p:nvPr/>
        </p:nvSpPr>
        <p:spPr>
          <a:xfrm>
            <a:off x="1645920" y="2331720"/>
            <a:ext cx="4023360" cy="1051560"/>
          </a:xfrm>
          <a:prstGeom prst="rect">
            <a:avLst/>
          </a:prstGeom>
          <a:noFill/>
          <a:ln/>
        </p:spPr>
        <p:txBody>
          <a:bodyPr wrap="square" lIns="0" tIns="0" rIns="0" bIns="0" rtlCol="0" anchor="t"/>
          <a:lstStyle/>
          <a:p>
            <a:pPr indent="0" marL="0">
              <a:buNone/>
            </a:pPr>
            <a:r>
              <a:rPr lang="en-US" sz="1500" dirty="0">
                <a:solidFill>
                  <a:schemeClr val="accent5"/>
                </a:solidFill>
              </a:rPr>
              <a:t>Topic words outside the shared codebook can leak into the cover (“choir practice” got through once).</a:t>
            </a:r>
            <a:endParaRPr lang="en-US" sz="1500" dirty="0"/>
          </a:p>
        </p:txBody>
      </p:sp>
      <p:sp>
        <p:nvSpPr>
          <p:cNvPr id="8" name="Paraphrase drift card"/>
          <p:cNvSpPr/>
          <p:nvPr/>
        </p:nvSpPr>
        <p:spPr>
          <a:xfrm>
            <a:off x="6217920" y="1463040"/>
            <a:ext cx="5394960" cy="2057400"/>
          </a:xfrm>
          <a:prstGeom prst="roundRect">
            <a:avLst>
              <a:gd name="adj" fmla="val 6222"/>
            </a:avLst>
          </a:prstGeom>
          <a:solidFill>
            <a:schemeClr val="tx2"/>
          </a:solidFill>
          <a:ln w="12700">
            <a:solidFill>
              <a:schemeClr val="accent6"/>
            </a:solidFill>
            <a:prstDash val="solid"/>
          </a:ln>
        </p:spPr>
      </p:sp>
      <p:sp>
        <p:nvSpPr>
          <p:cNvPr id="9" name="FiAlertTriangle circle"/>
          <p:cNvSpPr/>
          <p:nvPr/>
        </p:nvSpPr>
        <p:spPr>
          <a:xfrm>
            <a:off x="6537960" y="1783080"/>
            <a:ext cx="566928" cy="566928"/>
          </a:xfrm>
          <a:prstGeom prst="ellipse">
            <a:avLst/>
          </a:prstGeom>
          <a:solidFill>
            <a:schemeClr val="accent1">
              <a:alpha val="18000"/>
            </a:schemeClr>
          </a:solidFill>
          <a:ln/>
        </p:spPr>
      </p:sp>
      <p:pic>
        <p:nvPicPr>
          <p:cNvPr id="10" name="FiAlertTriangle icon" descr="preencoded.png">    </p:cNvPr>
          <p:cNvPicPr>
            <a:picLocks noChangeAspect="1"/>
          </p:cNvPicPr>
          <p:nvPr/>
        </p:nvPicPr>
        <p:blipFill>
          <a:blip r:embed="rId2"/>
          <a:stretch>
            <a:fillRect/>
          </a:stretch>
        </p:blipFill>
        <p:spPr>
          <a:xfrm>
            <a:off x="6685361" y="1930481"/>
            <a:ext cx="272125" cy="272125"/>
          </a:xfrm>
          <a:prstGeom prst="rect">
            <a:avLst/>
          </a:prstGeom>
        </p:spPr>
      </p:pic>
      <p:sp>
        <p:nvSpPr>
          <p:cNvPr id="11" name="Paraphrase drift"/>
          <p:cNvSpPr txBox="1"/>
          <p:nvPr/>
        </p:nvSpPr>
        <p:spPr>
          <a:xfrm>
            <a:off x="7315200" y="1828800"/>
            <a:ext cx="4023360" cy="457200"/>
          </a:xfrm>
          <a:prstGeom prst="rect">
            <a:avLst/>
          </a:prstGeom>
          <a:noFill/>
          <a:ln/>
        </p:spPr>
        <p:txBody>
          <a:bodyPr wrap="square" lIns="0" tIns="0" rIns="0" bIns="0" rtlCol="0" anchor="ctr"/>
          <a:lstStyle/>
          <a:p>
            <a:pPr indent="0" marL="0">
              <a:buNone/>
            </a:pPr>
            <a:r>
              <a:rPr lang="en-US" sz="1900" b="1" dirty="0">
                <a:solidFill>
                  <a:schemeClr val="bg2"/>
                </a:solidFill>
              </a:rPr>
              <a:t>Paraphrase drift</a:t>
            </a:r>
            <a:endParaRPr lang="en-US" sz="1900" dirty="0"/>
          </a:p>
        </p:txBody>
      </p:sp>
      <p:sp>
        <p:nvSpPr>
          <p:cNvPr id="12" name="Paraphrase drift body"/>
          <p:cNvSpPr txBox="1"/>
          <p:nvPr/>
        </p:nvSpPr>
        <p:spPr>
          <a:xfrm>
            <a:off x="7315200" y="2331720"/>
            <a:ext cx="4023360" cy="1051560"/>
          </a:xfrm>
          <a:prstGeom prst="rect">
            <a:avLst/>
          </a:prstGeom>
          <a:noFill/>
          <a:ln/>
        </p:spPr>
        <p:txBody>
          <a:bodyPr wrap="square" lIns="0" tIns="0" rIns="0" bIns="0" rtlCol="0" anchor="t"/>
          <a:lstStyle/>
          <a:p>
            <a:pPr indent="0" marL="0">
              <a:buNone/>
            </a:pPr>
            <a:r>
              <a:rPr lang="en-US" sz="1500" dirty="0">
                <a:solidFill>
                  <a:schemeClr val="accent5"/>
                </a:solidFill>
              </a:rPr>
              <a:t>The model sometimes shifts times (1705 came back wrong) or invents places (“road work”). Our scorer checks exact fields, not the topic.</a:t>
            </a:r>
            <a:endParaRPr lang="en-US" sz="1500" dirty="0"/>
          </a:p>
        </p:txBody>
      </p:sp>
      <p:sp>
        <p:nvSpPr>
          <p:cNvPr id="13" name="Patterns card"/>
          <p:cNvSpPr/>
          <p:nvPr/>
        </p:nvSpPr>
        <p:spPr>
          <a:xfrm>
            <a:off x="548640" y="3794760"/>
            <a:ext cx="5394960" cy="2057400"/>
          </a:xfrm>
          <a:prstGeom prst="roundRect">
            <a:avLst>
              <a:gd name="adj" fmla="val 6222"/>
            </a:avLst>
          </a:prstGeom>
          <a:solidFill>
            <a:schemeClr val="tx2"/>
          </a:solidFill>
          <a:ln w="12700">
            <a:solidFill>
              <a:schemeClr val="accent6"/>
            </a:solidFill>
            <a:prstDash val="solid"/>
          </a:ln>
        </p:spPr>
      </p:sp>
      <p:sp>
        <p:nvSpPr>
          <p:cNvPr id="14" name="FiAlertTriangle circle"/>
          <p:cNvSpPr/>
          <p:nvPr/>
        </p:nvSpPr>
        <p:spPr>
          <a:xfrm>
            <a:off x="868680" y="4114800"/>
            <a:ext cx="566928" cy="566928"/>
          </a:xfrm>
          <a:prstGeom prst="ellipse">
            <a:avLst/>
          </a:prstGeom>
          <a:solidFill>
            <a:schemeClr val="accent1">
              <a:alpha val="18000"/>
            </a:schemeClr>
          </a:solidFill>
          <a:ln/>
        </p:spPr>
      </p:sp>
      <p:pic>
        <p:nvPicPr>
          <p:cNvPr id="15" name="FiAlertTriangle icon" descr="preencoded.png">    </p:cNvPr>
          <p:cNvPicPr>
            <a:picLocks noChangeAspect="1"/>
          </p:cNvPicPr>
          <p:nvPr/>
        </p:nvPicPr>
        <p:blipFill>
          <a:blip r:embed="rId3"/>
          <a:stretch>
            <a:fillRect/>
          </a:stretch>
        </p:blipFill>
        <p:spPr>
          <a:xfrm>
            <a:off x="1016081" y="4262201"/>
            <a:ext cx="272125" cy="272125"/>
          </a:xfrm>
          <a:prstGeom prst="rect">
            <a:avLst/>
          </a:prstGeom>
        </p:spPr>
      </p:pic>
      <p:sp>
        <p:nvSpPr>
          <p:cNvPr id="16" name="Patterns"/>
          <p:cNvSpPr txBox="1"/>
          <p:nvPr/>
        </p:nvSpPr>
        <p:spPr>
          <a:xfrm>
            <a:off x="1645920" y="4160520"/>
            <a:ext cx="4023360" cy="457200"/>
          </a:xfrm>
          <a:prstGeom prst="rect">
            <a:avLst/>
          </a:prstGeom>
          <a:noFill/>
          <a:ln/>
        </p:spPr>
        <p:txBody>
          <a:bodyPr wrap="square" lIns="0" tIns="0" rIns="0" bIns="0" rtlCol="0" anchor="ctr"/>
          <a:lstStyle/>
          <a:p>
            <a:pPr indent="0" marL="0">
              <a:buNone/>
            </a:pPr>
            <a:r>
              <a:rPr lang="en-US" sz="1900" b="1" dirty="0">
                <a:solidFill>
                  <a:schemeClr val="bg2"/>
                </a:solidFill>
              </a:rPr>
              <a:t>Patterns</a:t>
            </a:r>
            <a:endParaRPr lang="en-US" sz="1900" dirty="0"/>
          </a:p>
        </p:txBody>
      </p:sp>
      <p:sp>
        <p:nvSpPr>
          <p:cNvPr id="17" name="Patterns body"/>
          <p:cNvSpPr txBox="1"/>
          <p:nvPr/>
        </p:nvSpPr>
        <p:spPr>
          <a:xfrm>
            <a:off x="1645920" y="4663440"/>
            <a:ext cx="4023360" cy="1051560"/>
          </a:xfrm>
          <a:prstGeom prst="rect">
            <a:avLst/>
          </a:prstGeom>
          <a:noFill/>
          <a:ln/>
        </p:spPr>
        <p:txBody>
          <a:bodyPr wrap="square" lIns="0" tIns="0" rIns="0" bIns="0" rtlCol="0" anchor="t"/>
          <a:lstStyle/>
          <a:p>
            <a:pPr indent="0" marL="0">
              <a:buNone/>
            </a:pPr>
            <a:r>
              <a:rPr lang="en-US" sz="1500" dirty="0">
                <a:solidFill>
                  <a:schemeClr val="accent5"/>
                </a:solidFill>
              </a:rPr>
              <a:t>Temperature 0 means the same note always gives the same cover, and odd “gift codes” are a tell for a statistical analyst.</a:t>
            </a:r>
            <a:endParaRPr lang="en-US" sz="1500" dirty="0"/>
          </a:p>
        </p:txBody>
      </p:sp>
      <p:sp>
        <p:nvSpPr>
          <p:cNvPr id="18" name="The rules are static card"/>
          <p:cNvSpPr/>
          <p:nvPr/>
        </p:nvSpPr>
        <p:spPr>
          <a:xfrm>
            <a:off x="6217920" y="3794760"/>
            <a:ext cx="5394960" cy="2057400"/>
          </a:xfrm>
          <a:prstGeom prst="roundRect">
            <a:avLst>
              <a:gd name="adj" fmla="val 6222"/>
            </a:avLst>
          </a:prstGeom>
          <a:solidFill>
            <a:schemeClr val="tx2"/>
          </a:solidFill>
          <a:ln w="12700">
            <a:solidFill>
              <a:schemeClr val="accent6"/>
            </a:solidFill>
            <a:prstDash val="solid"/>
          </a:ln>
        </p:spPr>
      </p:sp>
      <p:sp>
        <p:nvSpPr>
          <p:cNvPr id="19" name="FiAlertTriangle circle"/>
          <p:cNvSpPr/>
          <p:nvPr/>
        </p:nvSpPr>
        <p:spPr>
          <a:xfrm>
            <a:off x="6537960" y="4114800"/>
            <a:ext cx="566928" cy="566928"/>
          </a:xfrm>
          <a:prstGeom prst="ellipse">
            <a:avLst/>
          </a:prstGeom>
          <a:solidFill>
            <a:schemeClr val="accent1">
              <a:alpha val="18000"/>
            </a:schemeClr>
          </a:solidFill>
          <a:ln/>
        </p:spPr>
      </p:sp>
      <p:pic>
        <p:nvPicPr>
          <p:cNvPr id="20" name="FiAlertTriangle icon" descr="preencoded.png">    </p:cNvPr>
          <p:cNvPicPr>
            <a:picLocks noChangeAspect="1"/>
          </p:cNvPicPr>
          <p:nvPr/>
        </p:nvPicPr>
        <p:blipFill>
          <a:blip r:embed="rId4"/>
          <a:stretch>
            <a:fillRect/>
          </a:stretch>
        </p:blipFill>
        <p:spPr>
          <a:xfrm>
            <a:off x="6685361" y="4262201"/>
            <a:ext cx="272125" cy="272125"/>
          </a:xfrm>
          <a:prstGeom prst="rect">
            <a:avLst/>
          </a:prstGeom>
        </p:spPr>
      </p:pic>
      <p:sp>
        <p:nvSpPr>
          <p:cNvPr id="21" name="The rules are static"/>
          <p:cNvSpPr txBox="1"/>
          <p:nvPr/>
        </p:nvSpPr>
        <p:spPr>
          <a:xfrm>
            <a:off x="7315200" y="4160520"/>
            <a:ext cx="4023360" cy="457200"/>
          </a:xfrm>
          <a:prstGeom prst="rect">
            <a:avLst/>
          </a:prstGeom>
          <a:noFill/>
          <a:ln/>
        </p:spPr>
        <p:txBody>
          <a:bodyPr wrap="square" lIns="0" tIns="0" rIns="0" bIns="0" rtlCol="0" anchor="ctr"/>
          <a:lstStyle/>
          <a:p>
            <a:pPr indent="0" marL="0">
              <a:buNone/>
            </a:pPr>
            <a:r>
              <a:rPr lang="en-US" sz="1900" b="1" dirty="0">
                <a:solidFill>
                  <a:schemeClr val="bg2"/>
                </a:solidFill>
              </a:rPr>
              <a:t>The rules are static</a:t>
            </a:r>
            <a:endParaRPr lang="en-US" sz="1900" dirty="0"/>
          </a:p>
        </p:txBody>
      </p:sp>
      <p:sp>
        <p:nvSpPr>
          <p:cNvPr id="22" name="The rules are static body"/>
          <p:cNvSpPr txBox="1"/>
          <p:nvPr/>
        </p:nvSpPr>
        <p:spPr>
          <a:xfrm>
            <a:off x="7315200" y="4663440"/>
            <a:ext cx="4023360" cy="1051560"/>
          </a:xfrm>
          <a:prstGeom prst="rect">
            <a:avLst/>
          </a:prstGeom>
          <a:noFill/>
          <a:ln/>
        </p:spPr>
        <p:txBody>
          <a:bodyPr wrap="square" lIns="0" tIns="0" rIns="0" bIns="0" rtlCol="0" anchor="t"/>
          <a:lstStyle/>
          <a:p>
            <a:pPr indent="0" marL="0">
              <a:buNone/>
            </a:pPr>
            <a:r>
              <a:rPr lang="en-US" sz="1500" dirty="0">
                <a:solidFill>
                  <a:schemeClr val="accent5"/>
                </a:solidFill>
              </a:rPr>
              <a:t>Seize the prompt and you can decode everything sent with it. Per-user keyed codebooks are the fix.</a:t>
            </a:r>
            <a:endParaRPr lang="en-US"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7AE"/>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bg2"/>
                </a:solidFill>
              </a:rPr>
              <a:t>Roadmap: exact, keyed, then everywhere</a:t>
            </a:r>
            <a:endParaRPr lang="en-US" sz="3200" dirty="0"/>
          </a:p>
        </p:txBody>
      </p:sp>
      <p:sp>
        <p:nvSpPr>
          <p:cNvPr id="3" name="timeline"/>
          <p:cNvSpPr/>
          <p:nvPr/>
        </p:nvSpPr>
        <p:spPr>
          <a:xfrm>
            <a:off x="868680" y="1874520"/>
            <a:ext cx="10424160" cy="0"/>
          </a:xfrm>
          <a:prstGeom prst="line">
            <a:avLst/>
          </a:prstGeom>
          <a:noFill/>
          <a:ln w="25400">
            <a:solidFill>
              <a:schemeClr val="accent6"/>
            </a:solidFill>
            <a:prstDash val="solid"/>
          </a:ln>
        </p:spPr>
      </p:sp>
      <p:sp>
        <p:nvSpPr>
          <p:cNvPr id="4" name="NEXT dot"/>
          <p:cNvSpPr/>
          <p:nvPr/>
        </p:nvSpPr>
        <p:spPr>
          <a:xfrm>
            <a:off x="731520" y="1719072"/>
            <a:ext cx="310896" cy="310896"/>
          </a:xfrm>
          <a:prstGeom prst="ellipse">
            <a:avLst/>
          </a:prstGeom>
          <a:solidFill>
            <a:schemeClr val="accent2"/>
          </a:solidFill>
          <a:ln w="38100">
            <a:solidFill>
              <a:schemeClr val="tx1"/>
            </a:solidFill>
            <a:prstDash val="solid"/>
          </a:ln>
        </p:spPr>
      </p:sp>
      <p:sp>
        <p:nvSpPr>
          <p:cNvPr id="5" name="NEXT label"/>
          <p:cNvSpPr txBox="1"/>
          <p:nvPr/>
        </p:nvSpPr>
        <p:spPr>
          <a:xfrm>
            <a:off x="1115568" y="1691640"/>
            <a:ext cx="1051560" cy="365760"/>
          </a:xfrm>
          <a:prstGeom prst="rect">
            <a:avLst/>
          </a:prstGeom>
          <a:solidFill>
            <a:schemeClr val="tx1"/>
          </a:solidFill>
          <a:ln/>
        </p:spPr>
        <p:txBody>
          <a:bodyPr wrap="square" lIns="0" tIns="76200" rIns="0" bIns="0" rtlCol="0" anchor="ctr"/>
          <a:lstStyle/>
          <a:p>
            <a:pPr indent="0" marL="0">
              <a:buNone/>
            </a:pPr>
            <a:r>
              <a:rPr lang="en-US" sz="1300" b="1" spc="200" kern="0" dirty="0">
                <a:solidFill>
                  <a:schemeClr val="accent2"/>
                </a:solidFill>
              </a:rPr>
              <a:t>NEXT</a:t>
            </a:r>
            <a:endParaRPr lang="en-US" sz="1300" dirty="0"/>
          </a:p>
        </p:txBody>
      </p:sp>
      <p:sp>
        <p:nvSpPr>
          <p:cNvPr id="6" name="Fidelity layer card"/>
          <p:cNvSpPr/>
          <p:nvPr/>
        </p:nvSpPr>
        <p:spPr>
          <a:xfrm>
            <a:off x="548640" y="2377440"/>
            <a:ext cx="3474720" cy="3291840"/>
          </a:xfrm>
          <a:prstGeom prst="roundRect">
            <a:avLst>
              <a:gd name="adj" fmla="val 3889"/>
            </a:avLst>
          </a:prstGeom>
          <a:solidFill>
            <a:schemeClr val="tx2"/>
          </a:solidFill>
          <a:ln w="12700">
            <a:solidFill>
              <a:schemeClr val="accent6"/>
            </a:solidFill>
            <a:prstDash val="solid"/>
          </a:ln>
        </p:spPr>
      </p:sp>
      <p:sp>
        <p:nvSpPr>
          <p:cNvPr id="7" name="Fidelity layer"/>
          <p:cNvSpPr txBox="1"/>
          <p:nvPr/>
        </p:nvSpPr>
        <p:spPr>
          <a:xfrm>
            <a:off x="868680" y="2606040"/>
            <a:ext cx="2834640" cy="457200"/>
          </a:xfrm>
          <a:prstGeom prst="rect">
            <a:avLst/>
          </a:prstGeom>
          <a:noFill/>
          <a:ln/>
        </p:spPr>
        <p:txBody>
          <a:bodyPr wrap="square" lIns="0" tIns="0" rIns="0" bIns="0" rtlCol="0" anchor="ctr"/>
          <a:lstStyle/>
          <a:p>
            <a:pPr indent="0" marL="0">
              <a:buNone/>
            </a:pPr>
            <a:r>
              <a:rPr lang="en-US" sz="2000" b="1" dirty="0">
                <a:solidFill>
                  <a:schemeClr val="bg2"/>
                </a:solidFill>
              </a:rPr>
              <a:t>Fidelity layer</a:t>
            </a:r>
            <a:endParaRPr lang="en-US" sz="2000" dirty="0"/>
          </a:p>
        </p:txBody>
      </p:sp>
      <p:sp>
        <p:nvSpPr>
          <p:cNvPr id="8" name="Fidelity layer body"/>
          <p:cNvSpPr txBox="1"/>
          <p:nvPr/>
        </p:nvSpPr>
        <p:spPr>
          <a:xfrm>
            <a:off x="868680" y="3154680"/>
            <a:ext cx="2880360" cy="2377440"/>
          </a:xfrm>
          <a:prstGeom prst="rect">
            <a:avLst/>
          </a:prstGeom>
          <a:noFill/>
          <a:ln/>
        </p:spPr>
        <p:txBody>
          <a:bodyPr wrap="square" lIns="0" tIns="0" rIns="0" bIns="0" rtlCol="0" anchor="t"/>
          <a:lstStyle/>
          <a:p>
            <a:pPr indent="0" marL="0">
              <a:buNone/>
            </a:pPr>
            <a:r>
              <a:rPr lang="en-US" sz="1700" dirty="0">
                <a:solidFill>
                  <a:schemeClr val="accent5"/>
                </a:solidFill>
              </a:rPr>
              <a:t>Pull exact fields (coordinates, times, names) out of the note, pack them under the shared key, and let the model write only the small talk. Target: 98%+ exact recovery.</a:t>
            </a:r>
            <a:endParaRPr lang="en-US" sz="1700" dirty="0"/>
          </a:p>
        </p:txBody>
      </p:sp>
      <p:sp>
        <p:nvSpPr>
          <p:cNvPr id="9" name="THEN dot"/>
          <p:cNvSpPr/>
          <p:nvPr/>
        </p:nvSpPr>
        <p:spPr>
          <a:xfrm>
            <a:off x="4526280" y="1719072"/>
            <a:ext cx="310896" cy="310896"/>
          </a:xfrm>
          <a:prstGeom prst="ellipse">
            <a:avLst/>
          </a:prstGeom>
          <a:solidFill>
            <a:schemeClr val="accent1"/>
          </a:solidFill>
          <a:ln w="38100">
            <a:solidFill>
              <a:schemeClr val="tx1"/>
            </a:solidFill>
            <a:prstDash val="solid"/>
          </a:ln>
        </p:spPr>
      </p:sp>
      <p:sp>
        <p:nvSpPr>
          <p:cNvPr id="10" name="THEN label"/>
          <p:cNvSpPr txBox="1"/>
          <p:nvPr/>
        </p:nvSpPr>
        <p:spPr>
          <a:xfrm>
            <a:off x="4910328" y="1691640"/>
            <a:ext cx="1051560" cy="365760"/>
          </a:xfrm>
          <a:prstGeom prst="rect">
            <a:avLst/>
          </a:prstGeom>
          <a:solidFill>
            <a:schemeClr val="tx1"/>
          </a:solidFill>
          <a:ln/>
        </p:spPr>
        <p:txBody>
          <a:bodyPr wrap="square" lIns="0" tIns="76200" rIns="0" bIns="0" rtlCol="0" anchor="ctr"/>
          <a:lstStyle/>
          <a:p>
            <a:pPr indent="0" marL="0">
              <a:buNone/>
            </a:pPr>
            <a:r>
              <a:rPr lang="en-US" sz="1300" b="1" spc="200" kern="0" dirty="0">
                <a:solidFill>
                  <a:schemeClr val="accent1"/>
                </a:solidFill>
              </a:rPr>
              <a:t>THEN</a:t>
            </a:r>
            <a:endParaRPr lang="en-US" sz="1300" dirty="0"/>
          </a:p>
        </p:txBody>
      </p:sp>
      <p:sp>
        <p:nvSpPr>
          <p:cNvPr id="11" name="Keyed and varied card"/>
          <p:cNvSpPr/>
          <p:nvPr/>
        </p:nvSpPr>
        <p:spPr>
          <a:xfrm>
            <a:off x="4343400" y="2377440"/>
            <a:ext cx="3474720" cy="3291840"/>
          </a:xfrm>
          <a:prstGeom prst="roundRect">
            <a:avLst>
              <a:gd name="adj" fmla="val 3889"/>
            </a:avLst>
          </a:prstGeom>
          <a:solidFill>
            <a:schemeClr val="tx2"/>
          </a:solidFill>
          <a:ln w="12700">
            <a:solidFill>
              <a:schemeClr val="accent6"/>
            </a:solidFill>
            <a:prstDash val="solid"/>
          </a:ln>
        </p:spPr>
      </p:sp>
      <p:sp>
        <p:nvSpPr>
          <p:cNvPr id="12" name="Keyed and varied"/>
          <p:cNvSpPr txBox="1"/>
          <p:nvPr/>
        </p:nvSpPr>
        <p:spPr>
          <a:xfrm>
            <a:off x="4663440" y="2606040"/>
            <a:ext cx="2834640" cy="457200"/>
          </a:xfrm>
          <a:prstGeom prst="rect">
            <a:avLst/>
          </a:prstGeom>
          <a:noFill/>
          <a:ln/>
        </p:spPr>
        <p:txBody>
          <a:bodyPr wrap="square" lIns="0" tIns="0" rIns="0" bIns="0" rtlCol="0" anchor="ctr"/>
          <a:lstStyle/>
          <a:p>
            <a:pPr indent="0" marL="0">
              <a:buNone/>
            </a:pPr>
            <a:r>
              <a:rPr lang="en-US" sz="2000" b="1" dirty="0">
                <a:solidFill>
                  <a:schemeClr val="bg2"/>
                </a:solidFill>
              </a:rPr>
              <a:t>Keyed and varied</a:t>
            </a:r>
            <a:endParaRPr lang="en-US" sz="2000" dirty="0"/>
          </a:p>
        </p:txBody>
      </p:sp>
      <p:sp>
        <p:nvSpPr>
          <p:cNvPr id="13" name="Keyed and varied body"/>
          <p:cNvSpPr txBox="1"/>
          <p:nvPr/>
        </p:nvSpPr>
        <p:spPr>
          <a:xfrm>
            <a:off x="4663440" y="3154680"/>
            <a:ext cx="2880360" cy="2377440"/>
          </a:xfrm>
          <a:prstGeom prst="rect">
            <a:avLst/>
          </a:prstGeom>
          <a:noFill/>
          <a:ln/>
        </p:spPr>
        <p:txBody>
          <a:bodyPr wrap="square" lIns="0" tIns="0" rIns="0" bIns="0" rtlCol="0" anchor="t"/>
          <a:lstStyle/>
          <a:p>
            <a:pPr indent="0" marL="0">
              <a:buNone/>
            </a:pPr>
            <a:r>
              <a:rPr lang="en-US" sz="1700" dirty="0">
                <a:solidFill>
                  <a:schemeClr val="accent5"/>
                </a:solidFill>
              </a:rPr>
              <a:t>Per-user codebooks derived from the key, so a seized prompt decodes nothing. Key-seeded randomness so a note never yields the same cover twice. A real benign-ness scorer.</a:t>
            </a:r>
            <a:endParaRPr lang="en-US" sz="1700" dirty="0"/>
          </a:p>
        </p:txBody>
      </p:sp>
      <p:sp>
        <p:nvSpPr>
          <p:cNvPr id="14" name="LATER dot"/>
          <p:cNvSpPr/>
          <p:nvPr/>
        </p:nvSpPr>
        <p:spPr>
          <a:xfrm>
            <a:off x="8321040" y="1719072"/>
            <a:ext cx="310896" cy="310896"/>
          </a:xfrm>
          <a:prstGeom prst="ellipse">
            <a:avLst/>
          </a:prstGeom>
          <a:solidFill>
            <a:schemeClr val="accent3"/>
          </a:solidFill>
          <a:ln w="38100">
            <a:solidFill>
              <a:schemeClr val="tx1"/>
            </a:solidFill>
            <a:prstDash val="solid"/>
          </a:ln>
        </p:spPr>
      </p:sp>
      <p:sp>
        <p:nvSpPr>
          <p:cNvPr id="15" name="LATER label"/>
          <p:cNvSpPr txBox="1"/>
          <p:nvPr/>
        </p:nvSpPr>
        <p:spPr>
          <a:xfrm>
            <a:off x="8705088" y="1691640"/>
            <a:ext cx="1051560" cy="365760"/>
          </a:xfrm>
          <a:prstGeom prst="rect">
            <a:avLst/>
          </a:prstGeom>
          <a:solidFill>
            <a:schemeClr val="tx1"/>
          </a:solidFill>
          <a:ln/>
        </p:spPr>
        <p:txBody>
          <a:bodyPr wrap="square" lIns="0" tIns="76200" rIns="0" bIns="0" rtlCol="0" anchor="ctr"/>
          <a:lstStyle/>
          <a:p>
            <a:pPr indent="0" marL="0">
              <a:buNone/>
            </a:pPr>
            <a:r>
              <a:rPr lang="en-US" sz="1300" b="1" spc="200" kern="0" dirty="0">
                <a:solidFill>
                  <a:schemeClr val="accent3"/>
                </a:solidFill>
              </a:rPr>
              <a:t>LATER</a:t>
            </a:r>
            <a:endParaRPr lang="en-US" sz="1300" dirty="0"/>
          </a:p>
        </p:txBody>
      </p:sp>
      <p:sp>
        <p:nvSpPr>
          <p:cNvPr id="16" name="Blend in anywhere card"/>
          <p:cNvSpPr/>
          <p:nvPr/>
        </p:nvSpPr>
        <p:spPr>
          <a:xfrm>
            <a:off x="8138160" y="2377440"/>
            <a:ext cx="3474720" cy="3291840"/>
          </a:xfrm>
          <a:prstGeom prst="roundRect">
            <a:avLst>
              <a:gd name="adj" fmla="val 3889"/>
            </a:avLst>
          </a:prstGeom>
          <a:solidFill>
            <a:schemeClr val="tx2"/>
          </a:solidFill>
          <a:ln w="12700">
            <a:solidFill>
              <a:schemeClr val="accent6"/>
            </a:solidFill>
            <a:prstDash val="solid"/>
          </a:ln>
        </p:spPr>
      </p:sp>
      <p:sp>
        <p:nvSpPr>
          <p:cNvPr id="17" name="Blend in anywhere"/>
          <p:cNvSpPr txBox="1"/>
          <p:nvPr/>
        </p:nvSpPr>
        <p:spPr>
          <a:xfrm>
            <a:off x="8458200" y="2606040"/>
            <a:ext cx="2834640" cy="457200"/>
          </a:xfrm>
          <a:prstGeom prst="rect">
            <a:avLst/>
          </a:prstGeom>
          <a:noFill/>
          <a:ln/>
        </p:spPr>
        <p:txBody>
          <a:bodyPr wrap="square" lIns="0" tIns="0" rIns="0" bIns="0" rtlCol="0" anchor="ctr"/>
          <a:lstStyle/>
          <a:p>
            <a:pPr indent="0" marL="0">
              <a:buNone/>
            </a:pPr>
            <a:r>
              <a:rPr lang="en-US" sz="2000" b="1" dirty="0">
                <a:solidFill>
                  <a:schemeClr val="bg2"/>
                </a:solidFill>
              </a:rPr>
              <a:t>Blend in anywhere</a:t>
            </a:r>
            <a:endParaRPr lang="en-US" sz="2000" dirty="0"/>
          </a:p>
        </p:txBody>
      </p:sp>
      <p:sp>
        <p:nvSpPr>
          <p:cNvPr id="18" name="Blend in anywhere body"/>
          <p:cNvSpPr txBox="1"/>
          <p:nvPr/>
        </p:nvSpPr>
        <p:spPr>
          <a:xfrm>
            <a:off x="8458200" y="3154680"/>
            <a:ext cx="2880360" cy="2377440"/>
          </a:xfrm>
          <a:prstGeom prst="rect">
            <a:avLst/>
          </a:prstGeom>
          <a:noFill/>
          <a:ln/>
        </p:spPr>
        <p:txBody>
          <a:bodyPr wrap="square" lIns="0" tIns="0" rIns="0" bIns="0" rtlCol="0" anchor="t"/>
          <a:lstStyle/>
          <a:p>
            <a:pPr indent="0" marL="0">
              <a:buNone/>
            </a:pPr>
            <a:r>
              <a:rPr lang="en-US" sz="1700" dirty="0">
                <a:solidFill>
                  <a:schemeClr val="accent5"/>
                </a:solidFill>
              </a:rPr>
              <a:t>Multiple languages, covers shaped by real channel traffic, photo and caption carriers, and tests against an adversary who rewrites messages in transit.</a:t>
            </a:r>
            <a:endParaRPr lang="en-US" sz="17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7AE"/>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bg2"/>
                </a:solidFill>
              </a:rPr>
              <a:t>The end state: a small keyed model in every pocket</a:t>
            </a:r>
            <a:endParaRPr lang="en-US" sz="3200" dirty="0"/>
          </a:p>
        </p:txBody>
      </p:sp>
      <p:pic>
        <p:nvPicPr>
          <p:cNvPr id="3" name="on-device chip image" descr="C:\Users\pulic\SprintHack-ND\assets\us-chip-circuit.jpg">    </p:cNvPr>
          <p:cNvPicPr>
            <a:picLocks noChangeAspect="1"/>
          </p:cNvPicPr>
          <p:nvPr/>
        </p:nvPicPr>
        <p:blipFill>
          <a:blip r:embed="rId1"/>
          <a:srcRect l="0" r="0" t="0" b="0"/>
          <a:stretch/>
        </p:blipFill>
        <p:spPr>
          <a:xfrm>
            <a:off x="7434072" y="1463040"/>
            <a:ext cx="4206240" cy="4526280"/>
          </a:xfrm>
          <a:prstGeom prst="rect">
            <a:avLst/>
          </a:prstGeom>
        </p:spPr>
      </p:pic>
      <p:sp>
        <p:nvSpPr>
          <p:cNvPr id="4" name="FiSmartphone circle"/>
          <p:cNvSpPr/>
          <p:nvPr/>
        </p:nvSpPr>
        <p:spPr>
          <a:xfrm>
            <a:off x="548640" y="1508760"/>
            <a:ext cx="566928" cy="566928"/>
          </a:xfrm>
          <a:prstGeom prst="ellipse">
            <a:avLst/>
          </a:prstGeom>
          <a:solidFill>
            <a:schemeClr val="accent2">
              <a:alpha val="18000"/>
            </a:schemeClr>
          </a:solidFill>
          <a:ln/>
        </p:spPr>
      </p:sp>
      <p:pic>
        <p:nvPicPr>
          <p:cNvPr id="5" name="FiSmartphone icon" descr="preencoded.png">    </p:cNvPr>
          <p:cNvPicPr>
            <a:picLocks noChangeAspect="1"/>
          </p:cNvPicPr>
          <p:nvPr/>
        </p:nvPicPr>
        <p:blipFill>
          <a:blip r:embed="rId2"/>
          <a:stretch>
            <a:fillRect/>
          </a:stretch>
        </p:blipFill>
        <p:spPr>
          <a:xfrm>
            <a:off x="696041" y="1656161"/>
            <a:ext cx="272125" cy="272125"/>
          </a:xfrm>
          <a:prstGeom prst="rect">
            <a:avLst/>
          </a:prstGeom>
        </p:spPr>
      </p:pic>
      <p:sp>
        <p:nvSpPr>
          <p:cNvPr id="6" name="On-device header"/>
          <p:cNvSpPr txBox="1"/>
          <p:nvPr/>
        </p:nvSpPr>
        <p:spPr>
          <a:xfrm>
            <a:off x="1325880" y="1490472"/>
            <a:ext cx="5623560" cy="329184"/>
          </a:xfrm>
          <a:prstGeom prst="rect">
            <a:avLst/>
          </a:prstGeom>
          <a:noFill/>
          <a:ln/>
        </p:spPr>
        <p:txBody>
          <a:bodyPr wrap="square" lIns="0" tIns="0" rIns="0" bIns="0" rtlCol="0" anchor="ctr"/>
          <a:lstStyle/>
          <a:p>
            <a:pPr indent="0" marL="0">
              <a:buNone/>
            </a:pPr>
            <a:r>
              <a:rPr lang="en-US" sz="1800" b="1" dirty="0">
                <a:solidFill>
                  <a:schemeClr val="bg2"/>
                </a:solidFill>
              </a:rPr>
              <a:t>On-device</a:t>
            </a:r>
            <a:endParaRPr lang="en-US" sz="1800" dirty="0"/>
          </a:p>
        </p:txBody>
      </p:sp>
      <p:sp>
        <p:nvSpPr>
          <p:cNvPr id="7" name="On-device body"/>
          <p:cNvSpPr txBox="1"/>
          <p:nvPr/>
        </p:nvSpPr>
        <p:spPr>
          <a:xfrm>
            <a:off x="1325880" y="1837944"/>
            <a:ext cx="5623560" cy="548640"/>
          </a:xfrm>
          <a:prstGeom prst="rect">
            <a:avLst/>
          </a:prstGeom>
          <a:noFill/>
          <a:ln/>
        </p:spPr>
        <p:txBody>
          <a:bodyPr wrap="square" lIns="0" tIns="0" rIns="0" bIns="0" rtlCol="0" anchor="t"/>
          <a:lstStyle/>
          <a:p>
            <a:pPr indent="0" marL="0">
              <a:buNone/>
            </a:pPr>
            <a:r>
              <a:rPr lang="en-US" sz="1500" dirty="0">
                <a:solidFill>
                  <a:schemeClr val="accent5"/>
                </a:solidFill>
              </a:rPr>
              <a:t>Runs locally. Nothing leaves the phone except small talk.</a:t>
            </a:r>
            <a:endParaRPr lang="en-US" sz="1500" dirty="0"/>
          </a:p>
        </p:txBody>
      </p:sp>
      <p:sp>
        <p:nvSpPr>
          <p:cNvPr id="8" name="FiKey circle"/>
          <p:cNvSpPr/>
          <p:nvPr/>
        </p:nvSpPr>
        <p:spPr>
          <a:xfrm>
            <a:off x="548640" y="2651760"/>
            <a:ext cx="566928" cy="566928"/>
          </a:xfrm>
          <a:prstGeom prst="ellipse">
            <a:avLst/>
          </a:prstGeom>
          <a:solidFill>
            <a:schemeClr val="accent1">
              <a:alpha val="18000"/>
            </a:schemeClr>
          </a:solidFill>
          <a:ln/>
        </p:spPr>
      </p:sp>
      <p:pic>
        <p:nvPicPr>
          <p:cNvPr id="9" name="FiKey icon" descr="preencoded.png">    </p:cNvPr>
          <p:cNvPicPr>
            <a:picLocks noChangeAspect="1"/>
          </p:cNvPicPr>
          <p:nvPr/>
        </p:nvPicPr>
        <p:blipFill>
          <a:blip r:embed="rId3"/>
          <a:stretch>
            <a:fillRect/>
          </a:stretch>
        </p:blipFill>
        <p:spPr>
          <a:xfrm>
            <a:off x="696041" y="2799161"/>
            <a:ext cx="272125" cy="272125"/>
          </a:xfrm>
          <a:prstGeom prst="rect">
            <a:avLst/>
          </a:prstGeom>
        </p:spPr>
      </p:pic>
      <p:sp>
        <p:nvSpPr>
          <p:cNvPr id="10" name="Keyed header"/>
          <p:cNvSpPr txBox="1"/>
          <p:nvPr/>
        </p:nvSpPr>
        <p:spPr>
          <a:xfrm>
            <a:off x="1325880" y="2633472"/>
            <a:ext cx="5623560" cy="329184"/>
          </a:xfrm>
          <a:prstGeom prst="rect">
            <a:avLst/>
          </a:prstGeom>
          <a:noFill/>
          <a:ln/>
        </p:spPr>
        <p:txBody>
          <a:bodyPr wrap="square" lIns="0" tIns="0" rIns="0" bIns="0" rtlCol="0" anchor="ctr"/>
          <a:lstStyle/>
          <a:p>
            <a:pPr indent="0" marL="0">
              <a:buNone/>
            </a:pPr>
            <a:r>
              <a:rPr lang="en-US" sz="1800" b="1" dirty="0">
                <a:solidFill>
                  <a:schemeClr val="bg2"/>
                </a:solidFill>
              </a:rPr>
              <a:t>Keyed</a:t>
            </a:r>
            <a:endParaRPr lang="en-US" sz="1800" dirty="0"/>
          </a:p>
        </p:txBody>
      </p:sp>
      <p:sp>
        <p:nvSpPr>
          <p:cNvPr id="11" name="Keyed body"/>
          <p:cNvSpPr txBox="1"/>
          <p:nvPr/>
        </p:nvSpPr>
        <p:spPr>
          <a:xfrm>
            <a:off x="1325880" y="2980944"/>
            <a:ext cx="5623560" cy="548640"/>
          </a:xfrm>
          <a:prstGeom prst="rect">
            <a:avLst/>
          </a:prstGeom>
          <a:noFill/>
          <a:ln/>
        </p:spPr>
        <p:txBody>
          <a:bodyPr wrap="square" lIns="0" tIns="0" rIns="0" bIns="0" rtlCol="0" anchor="t"/>
          <a:lstStyle/>
          <a:p>
            <a:pPr indent="0" marL="0">
              <a:buNone/>
            </a:pPr>
            <a:r>
              <a:rPr lang="en-US" sz="1500" dirty="0">
                <a:solidFill>
                  <a:schemeClr val="accent5"/>
                </a:solidFill>
              </a:rPr>
              <a:t>The model alone decodes nothing; you also need your partner's key.</a:t>
            </a:r>
            <a:endParaRPr lang="en-US" sz="1500" dirty="0"/>
          </a:p>
        </p:txBody>
      </p:sp>
      <p:sp>
        <p:nvSpPr>
          <p:cNvPr id="12" name="FiShuffle circle"/>
          <p:cNvSpPr/>
          <p:nvPr/>
        </p:nvSpPr>
        <p:spPr>
          <a:xfrm>
            <a:off x="548640" y="3794760"/>
            <a:ext cx="566928" cy="566928"/>
          </a:xfrm>
          <a:prstGeom prst="ellipse">
            <a:avLst/>
          </a:prstGeom>
          <a:solidFill>
            <a:schemeClr val="accent3">
              <a:alpha val="18000"/>
            </a:schemeClr>
          </a:solidFill>
          <a:ln/>
        </p:spPr>
      </p:sp>
      <p:pic>
        <p:nvPicPr>
          <p:cNvPr id="13" name="FiShuffle icon" descr="preencoded.png">    </p:cNvPr>
          <p:cNvPicPr>
            <a:picLocks noChangeAspect="1"/>
          </p:cNvPicPr>
          <p:nvPr/>
        </p:nvPicPr>
        <p:blipFill>
          <a:blip r:embed="rId4"/>
          <a:stretch>
            <a:fillRect/>
          </a:stretch>
        </p:blipFill>
        <p:spPr>
          <a:xfrm>
            <a:off x="696041" y="3942161"/>
            <a:ext cx="272125" cy="272125"/>
          </a:xfrm>
          <a:prstGeom prst="rect">
            <a:avLst/>
          </a:prstGeom>
        </p:spPr>
      </p:pic>
      <p:sp>
        <p:nvSpPr>
          <p:cNvPr id="14" name="Different for every user header"/>
          <p:cNvSpPr txBox="1"/>
          <p:nvPr/>
        </p:nvSpPr>
        <p:spPr>
          <a:xfrm>
            <a:off x="1325880" y="3776472"/>
            <a:ext cx="5623560" cy="329184"/>
          </a:xfrm>
          <a:prstGeom prst="rect">
            <a:avLst/>
          </a:prstGeom>
          <a:noFill/>
          <a:ln/>
        </p:spPr>
        <p:txBody>
          <a:bodyPr wrap="square" lIns="0" tIns="0" rIns="0" bIns="0" rtlCol="0" anchor="ctr"/>
          <a:lstStyle/>
          <a:p>
            <a:pPr indent="0" marL="0">
              <a:buNone/>
            </a:pPr>
            <a:r>
              <a:rPr lang="en-US" sz="1800" b="1" dirty="0">
                <a:solidFill>
                  <a:schemeClr val="bg2"/>
                </a:solidFill>
              </a:rPr>
              <a:t>Different for every user</a:t>
            </a:r>
            <a:endParaRPr lang="en-US" sz="1800" dirty="0"/>
          </a:p>
        </p:txBody>
      </p:sp>
      <p:sp>
        <p:nvSpPr>
          <p:cNvPr id="15" name="Different for every user body"/>
          <p:cNvSpPr txBox="1"/>
          <p:nvPr/>
        </p:nvSpPr>
        <p:spPr>
          <a:xfrm>
            <a:off x="1325880" y="4123944"/>
            <a:ext cx="5623560" cy="548640"/>
          </a:xfrm>
          <a:prstGeom prst="rect">
            <a:avLst/>
          </a:prstGeom>
          <a:noFill/>
          <a:ln/>
        </p:spPr>
        <p:txBody>
          <a:bodyPr wrap="square" lIns="0" tIns="0" rIns="0" bIns="0" rtlCol="0" anchor="t"/>
          <a:lstStyle/>
          <a:p>
            <a:pPr indent="0" marL="0">
              <a:buNone/>
            </a:pPr>
            <a:r>
              <a:rPr lang="en-US" sz="1500" dirty="0">
                <a:solidFill>
                  <a:schemeClr val="accent5"/>
                </a:solidFill>
              </a:rPr>
              <a:t>One seized phone doesn't compromise anyone else.</a:t>
            </a:r>
            <a:endParaRPr lang="en-US" sz="1500" dirty="0"/>
          </a:p>
        </p:txBody>
      </p:sp>
      <p:sp>
        <p:nvSpPr>
          <p:cNvPr id="16" name="FiMessageSquare circle"/>
          <p:cNvSpPr/>
          <p:nvPr/>
        </p:nvSpPr>
        <p:spPr>
          <a:xfrm>
            <a:off x="548640" y="4937760"/>
            <a:ext cx="566928" cy="566928"/>
          </a:xfrm>
          <a:prstGeom prst="ellipse">
            <a:avLst/>
          </a:prstGeom>
          <a:solidFill>
            <a:schemeClr val="accent2">
              <a:alpha val="18000"/>
            </a:schemeClr>
          </a:solidFill>
          <a:ln/>
        </p:spPr>
      </p:sp>
      <p:pic>
        <p:nvPicPr>
          <p:cNvPr id="17" name="FiMessageSquare icon" descr="preencoded.png">    </p:cNvPr>
          <p:cNvPicPr>
            <a:picLocks noChangeAspect="1"/>
          </p:cNvPicPr>
          <p:nvPr/>
        </p:nvPicPr>
        <p:blipFill>
          <a:blip r:embed="rId5"/>
          <a:stretch>
            <a:fillRect/>
          </a:stretch>
        </p:blipFill>
        <p:spPr>
          <a:xfrm>
            <a:off x="696041" y="5085161"/>
            <a:ext cx="272125" cy="272125"/>
          </a:xfrm>
          <a:prstGeom prst="rect">
            <a:avLst/>
          </a:prstGeom>
        </p:spPr>
      </p:pic>
      <p:sp>
        <p:nvSpPr>
          <p:cNvPr id="18" name="Deniable header"/>
          <p:cNvSpPr txBox="1"/>
          <p:nvPr/>
        </p:nvSpPr>
        <p:spPr>
          <a:xfrm>
            <a:off x="1325880" y="4919472"/>
            <a:ext cx="5623560" cy="329184"/>
          </a:xfrm>
          <a:prstGeom prst="rect">
            <a:avLst/>
          </a:prstGeom>
          <a:noFill/>
          <a:ln/>
        </p:spPr>
        <p:txBody>
          <a:bodyPr wrap="square" lIns="0" tIns="0" rIns="0" bIns="0" rtlCol="0" anchor="ctr"/>
          <a:lstStyle/>
          <a:p>
            <a:pPr indent="0" marL="0">
              <a:buNone/>
            </a:pPr>
            <a:r>
              <a:rPr lang="en-US" sz="1800" b="1" dirty="0">
                <a:solidFill>
                  <a:schemeClr val="bg2"/>
                </a:solidFill>
              </a:rPr>
              <a:t>Deniable</a:t>
            </a:r>
            <a:endParaRPr lang="en-US" sz="1800" dirty="0"/>
          </a:p>
        </p:txBody>
      </p:sp>
      <p:sp>
        <p:nvSpPr>
          <p:cNvPr id="19" name="Deniable body"/>
          <p:cNvSpPr txBox="1"/>
          <p:nvPr/>
        </p:nvSpPr>
        <p:spPr>
          <a:xfrm>
            <a:off x="1325880" y="5266944"/>
            <a:ext cx="5623560" cy="548640"/>
          </a:xfrm>
          <a:prstGeom prst="rect">
            <a:avLst/>
          </a:prstGeom>
          <a:noFill/>
          <a:ln/>
        </p:spPr>
        <p:txBody>
          <a:bodyPr wrap="square" lIns="0" tIns="0" rIns="0" bIns="0" rtlCol="0" anchor="t"/>
          <a:lstStyle/>
          <a:p>
            <a:pPr indent="0" marL="0">
              <a:buNone/>
            </a:pPr>
            <a:r>
              <a:rPr lang="en-US" sz="1500" dirty="0">
                <a:solidFill>
                  <a:schemeClr val="accent5"/>
                </a:solidFill>
              </a:rPr>
              <a:t>On inspection it is an ordinary chat assistant, not a cipher.</a:t>
            </a:r>
            <a:endParaRPr lang="en-US"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7AE"/>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bg2"/>
                </a:solidFill>
              </a:rPr>
              <a:t>Thank you. Questions?</a:t>
            </a:r>
            <a:endParaRPr lang="en-US" sz="3200" dirty="0"/>
          </a:p>
        </p:txBody>
      </p:sp>
      <p:pic>
        <p:nvPicPr>
          <p:cNvPr id="3" name="DIU HQ sign" descr="C:\Users\pulic\SprintHack-ND\assets\diu-hq-sign.jpg">    </p:cNvPr>
          <p:cNvPicPr>
            <a:picLocks noChangeAspect="1"/>
          </p:cNvPicPr>
          <p:nvPr/>
        </p:nvPicPr>
        <p:blipFill>
          <a:blip r:embed="rId1"/>
          <a:srcRect l="0" r="0" t="0" b="0"/>
          <a:stretch/>
        </p:blipFill>
        <p:spPr>
          <a:xfrm>
            <a:off x="548640" y="1463040"/>
            <a:ext cx="3474720" cy="2377440"/>
          </a:xfrm>
          <a:prstGeom prst="rect">
            <a:avLst/>
          </a:prstGeom>
        </p:spPr>
      </p:pic>
      <p:pic>
        <p:nvPicPr>
          <p:cNvPr id="4" name="Pentagon aerial" descr="C:\Users\pulic\SprintHack-ND\assets\pentagon-aerial.jpg">    </p:cNvPr>
          <p:cNvPicPr>
            <a:picLocks noChangeAspect="1"/>
          </p:cNvPicPr>
          <p:nvPr/>
        </p:nvPicPr>
        <p:blipFill>
          <a:blip r:embed="rId2"/>
          <a:srcRect l="0" r="0" t="0" b="0"/>
          <a:stretch/>
        </p:blipFill>
        <p:spPr>
          <a:xfrm>
            <a:off x="4343400" y="1463040"/>
            <a:ext cx="3474720" cy="2377440"/>
          </a:xfrm>
          <a:prstGeom prst="rect">
            <a:avLst/>
          </a:prstGeom>
        </p:spPr>
      </p:pic>
      <p:pic>
        <p:nvPicPr>
          <p:cNvPr id="5" name="DIU locations map" descr="C:\Users\pulic\SprintHack-ND\assets\diu-locations-map.jpg">    </p:cNvPr>
          <p:cNvPicPr>
            <a:picLocks noChangeAspect="1"/>
          </p:cNvPicPr>
          <p:nvPr/>
        </p:nvPicPr>
        <p:blipFill>
          <a:blip r:embed="rId3"/>
          <a:srcRect l="0" r="0" t="0" b="0"/>
          <a:stretch/>
        </p:blipFill>
        <p:spPr>
          <a:xfrm>
            <a:off x="8138160" y="1463040"/>
            <a:ext cx="3474720" cy="2377440"/>
          </a:xfrm>
          <a:prstGeom prst="rect">
            <a:avLst/>
          </a:prstGeom>
        </p:spPr>
      </p:pic>
      <p:pic>
        <p:nvPicPr>
          <p:cNvPr id="6" name="DIU logo" descr="C:\Users\pulic\SprintHack-ND\assets\diu-logo-dark.jpg">    </p:cNvPr>
          <p:cNvPicPr>
            <a:picLocks noChangeAspect="1"/>
          </p:cNvPicPr>
          <p:nvPr/>
        </p:nvPicPr>
        <p:blipFill>
          <a:blip r:embed="rId4"/>
          <a:stretch>
            <a:fillRect/>
          </a:stretch>
        </p:blipFill>
        <p:spPr>
          <a:xfrm>
            <a:off x="548640" y="4206240"/>
            <a:ext cx="3108960" cy="1746504"/>
          </a:xfrm>
          <a:prstGeom prst="rect">
            <a:avLst/>
          </a:prstGeom>
        </p:spPr>
      </p:pic>
      <p:sp>
        <p:nvSpPr>
          <p:cNvPr id="7" name="closing text"/>
          <p:cNvSpPr txBox="1"/>
          <p:nvPr/>
        </p:nvSpPr>
        <p:spPr>
          <a:xfrm>
            <a:off x="4023360" y="4206240"/>
            <a:ext cx="7589520" cy="1737360"/>
          </a:xfrm>
          <a:prstGeom prst="rect">
            <a:avLst/>
          </a:prstGeom>
          <a:noFill/>
          <a:ln/>
        </p:spPr>
        <p:txBody>
          <a:bodyPr wrap="square" lIns="0" tIns="0" rIns="0" bIns="0" rtlCol="0" anchor="ctr"/>
          <a:lstStyle/>
          <a:p>
            <a:pPr indent="0" marL="0">
              <a:spcAft>
                <a:spcPts val="800"/>
              </a:spcAft>
              <a:buNone/>
            </a:pPr>
            <a:r>
              <a:rPr lang="en-US" sz="1600" b="1" dirty="0">
                <a:solidFill>
                  <a:schemeClr val="bg2"/>
                </a:solidFill>
              </a:rPr>
              <a:t>Built for the DIU AI-Enhanced Resilient Communications track.</a:t>
            </a:r>
            <a:endParaRPr lang="en-US" sz="1600" dirty="0"/>
          </a:p>
          <a:p>
            <a:pPr indent="0" marL="0">
              <a:spcAft>
                <a:spcPts val="800"/>
              </a:spcAft>
              <a:buNone/>
            </a:pPr>
            <a:r>
              <a:rPr lang="en-US" sz="1600" dirty="0">
                <a:solidFill>
                  <a:schemeClr val="accent2"/>
                </a:solidFill>
                <a:latin typeface="Courier New" pitchFamily="34" charset="0"/>
                <a:ea typeface="Courier New" pitchFamily="34" charset="-122"/>
                <a:cs typeface="Courier New" pitchFamily="34" charset="-120"/>
              </a:rPr>
              <a:t>Try it: streamlit run demo/app.py</a:t>
            </a:r>
            <a:endParaRPr lang="en-US" sz="1600" dirty="0"/>
          </a:p>
          <a:p>
            <a:pPr indent="0" marL="0">
              <a:spcAft>
                <a:spcPts val="800"/>
              </a:spcAft>
              <a:buNone/>
            </a:pPr>
            <a:r>
              <a:rPr lang="en-US" sz="1600" dirty="0">
                <a:solidFill>
                  <a:schemeClr val="accent5"/>
                </a:solidFill>
              </a:rPr>
              <a:t>Fictional test data only. A defensive, anti-censorship proof of concept.</a:t>
            </a:r>
            <a:endParaRPr lang="en-US" sz="16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7AE"/>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PlainSight">
  <a:themeElements>
    <a:clrScheme name="PlainSight">
      <a:dk1>
        <a:srgbClr val="0A0F1C"/>
      </a:dk1>
      <a:lt1>
        <a:srgbClr val="FFFFFF"/>
      </a:lt1>
      <a:dk2>
        <a:srgbClr val="111827"/>
      </a:dk2>
      <a:lt2>
        <a:srgbClr val="E8ECF4"/>
      </a:lt2>
      <a:accent1>
        <a:srgbClr val="F5B544"/>
      </a:accent1>
      <a:accent2>
        <a:srgbClr val="2DD4A7"/>
      </a:accent2>
      <a:accent3>
        <a:srgbClr val="3B82F6"/>
      </a:accent3>
      <a:accent4>
        <a:srgbClr val="F2555A"/>
      </a:accent4>
      <a:accent5>
        <a:srgbClr val="8B97AE"/>
      </a:accent5>
      <a:accent6>
        <a:srgbClr val="1E2A40"/>
      </a:accent6>
      <a:hlink>
        <a:srgbClr val="2DD4A7"/>
      </a:hlink>
      <a:folHlink>
        <a:srgbClr val="8B97AE"/>
      </a:folHlink>
    </a:clrScheme>
    <a:fontScheme name="PlainSigh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PlainSight</dc:title>
  <dc:subject>SprintHack@ND 2026 - DIU AI-Enhanced Resilient Communications</dc:subject>
  <dc:creator>PptxGenJS</dc:creator>
  <cp:lastModifiedBy>PptxGenJS</cp:lastModifiedBy>
  <cp:revision>1</cp:revision>
  <dcterms:created xsi:type="dcterms:W3CDTF">2026-10-04T00:27:44Z</dcterms:created>
  <dcterms:modified xsi:type="dcterms:W3CDTF">2026-10-04T00:27:44Z</dcterms:modified>
</cp:coreProperties>
</file>